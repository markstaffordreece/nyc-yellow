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6"/>
  </p:notesMasterIdLst>
  <p:handoutMasterIdLst>
    <p:handoutMasterId r:id="rId27"/>
  </p:handoutMasterIdLst>
  <p:sldIdLst>
    <p:sldId id="256" r:id="rId5"/>
    <p:sldId id="261" r:id="rId6"/>
    <p:sldId id="277" r:id="rId7"/>
    <p:sldId id="262" r:id="rId8"/>
    <p:sldId id="309" r:id="rId9"/>
    <p:sldId id="266" r:id="rId10"/>
    <p:sldId id="295" r:id="rId11"/>
    <p:sldId id="296" r:id="rId12"/>
    <p:sldId id="297" r:id="rId13"/>
    <p:sldId id="278" r:id="rId14"/>
    <p:sldId id="298" r:id="rId15"/>
    <p:sldId id="299" r:id="rId16"/>
    <p:sldId id="300" r:id="rId17"/>
    <p:sldId id="308" r:id="rId18"/>
    <p:sldId id="302" r:id="rId19"/>
    <p:sldId id="306" r:id="rId20"/>
    <p:sldId id="303" r:id="rId21"/>
    <p:sldId id="311" r:id="rId22"/>
    <p:sldId id="310" r:id="rId23"/>
    <p:sldId id="312" r:id="rId24"/>
    <p:sldId id="27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546A"/>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guide orient="horz" pos="33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7/10/2023</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7/10/2023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a:t>Year</a:t>
            </a:r>
            <a:endParaRPr lang="en-ZA"/>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a:t>Year</a:t>
            </a:r>
            <a:endParaRPr lang="en-ZA"/>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6776"/>
            <a:ext cx="10515600" cy="3697645"/>
          </a:xfrm>
        </p:spPr>
        <p:txBody>
          <a:bodyPr/>
          <a:lstStyle>
            <a:lvl1pPr>
              <a:defRPr>
                <a:solidFill>
                  <a:schemeClr val="tx1">
                    <a:lumMod val="75000"/>
                    <a:lumOff val="25000"/>
                  </a:schemeClr>
                </a:solidFill>
              </a:defRPr>
            </a:lvl1pPr>
          </a:lstStyle>
          <a:p>
            <a:r>
              <a:rPr lang="en-US" dirty="0"/>
              <a:t>Click icon to add SmartArt graphic</a:t>
            </a:r>
          </a:p>
        </p:txBody>
      </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5431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dirty="0"/>
              <a:t>Click icon to add picture</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dirty="0"/>
              <a:t>Click icon to add picture</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dirty="0"/>
              <a:t>Click icon to add picture</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dirty="0"/>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masterClrMapping/>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dirty="0"/>
              <a:t>Click icon to add picture</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dirty="0"/>
              <a:t>Click icon to add picture</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dk1" tx1="lt1" bg2="dk2" tx2="lt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images.careerfoundry.com/public/courses/intro-to-data/E1/vgsales.xlsx" TargetMode="Externa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hyperlink" Target="https://coach-courses-us.s3.amazonaws.com/public/courses/da_program/CDC_Influenza_Deaths_edited.xlsx" TargetMode="External"/><Relationship Id="rId2" Type="http://schemas.openxmlformats.org/officeDocument/2006/relationships/hyperlink" Target="https://wonder.cdc.gov/ucd-icd10.html" TargetMode="Externa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29.png"/><Relationship Id="rId4" Type="http://schemas.openxmlformats.org/officeDocument/2006/relationships/hyperlink" Target="https://coach-courses-us.s3.amazonaws.com/public/courses/data-immersion/A1-A2_Influenza_Project/Census_Population_transformed_202101.csv"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public.tableau.com/app/profile/mark.reece/viz/HospitalStaffingAgencyRecommendationsforInfluenzaSeason/Story1?publish=yes" TargetMode="External"/><Relationship Id="rId2" Type="http://schemas.openxmlformats.org/officeDocument/2006/relationships/hyperlink" Target="https://www.youtube.com/watch?v=fOFW9jyLcR4" TargetMode="External"/><Relationship Id="rId1" Type="http://schemas.openxmlformats.org/officeDocument/2006/relationships/slideLayout" Target="../slideLayouts/slideLayout18.xml"/><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www.postgresqltutorial.com/wp-content/uploads/2019/05/dvdrental.zip" TargetMode="Externa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28.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4.xml"/><Relationship Id="rId5" Type="http://schemas.openxmlformats.org/officeDocument/2006/relationships/image" Target="../media/image44.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hyperlink" Target="http://www.careerfoundry.com/" TargetMode="External"/><Relationship Id="rId7" Type="http://schemas.openxmlformats.org/officeDocument/2006/relationships/image" Target="../media/image46.png"/><Relationship Id="rId2" Type="http://schemas.openxmlformats.org/officeDocument/2006/relationships/hyperlink" Target="https://s3.amazonaws.com/coach-courses-us/public/courses/data-immersion/A4/A4_Data_Assets/customers.zip" TargetMode="Externa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hyperlink" Target="https://www.kaggle.com/datasets/psparks/instacart-market-basket-analysis" TargetMode="External"/><Relationship Id="rId4" Type="http://schemas.openxmlformats.org/officeDocument/2006/relationships/hyperlink" Target="https://gist.github.com/jeremystan/c3b39d947d9b88b3ccff3147dbcf6c6b" TargetMode="External"/><Relationship Id="rId9"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9.xml"/><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9.xml"/><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hyperlink" Target="https://github.com/MarkStaffordReece/NYC-Yellow" TargetMode="External"/><Relationship Id="rId7" Type="http://schemas.openxmlformats.org/officeDocument/2006/relationships/image" Target="../media/image47.png"/><Relationship Id="rId2" Type="http://schemas.openxmlformats.org/officeDocument/2006/relationships/hyperlink" Target="https://www.nyc.gov/site/tlc/about/tlc-trip-record-data.page#:~:text=Yellow%20and%20green%20taxi%20trip%20records%20include%20fields,rate%20types%2C%20payment%20types%2C%20and%20driver-reported%20passenger%20counts." TargetMode="External"/><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hyperlink" Target="https://public.tableau.com/app/profile/mark.reece/viz/NYCYellowBusinessReport/Final" TargetMode="External"/><Relationship Id="rId5" Type="http://schemas.openxmlformats.org/officeDocument/2006/relationships/image" Target="../media/image29.png"/><Relationship Id="rId10" Type="http://schemas.openxmlformats.org/officeDocument/2006/relationships/image" Target="../media/image54.png"/><Relationship Id="rId4" Type="http://schemas.openxmlformats.org/officeDocument/2006/relationships/image" Target="../media/image28.png"/><Relationship Id="rId9"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9.xml"/><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a:lstStyle/>
          <a:p>
            <a:r>
              <a:rPr lang="en-US" dirty="0"/>
              <a:t>Stafford Reece</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a:lstStyle/>
          <a:p>
            <a:r>
              <a:rPr lang="en-US" dirty="0"/>
              <a:t>Aspiring Data Analyst</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3277319" y="136525"/>
            <a:ext cx="5795920" cy="809095"/>
          </a:xfrm>
        </p:spPr>
        <p:txBody>
          <a:bodyPr>
            <a:normAutofit/>
          </a:bodyPr>
          <a:lstStyle/>
          <a:p>
            <a:r>
              <a:rPr lang="en-US" dirty="0">
                <a:solidFill>
                  <a:schemeClr val="bg1"/>
                </a:solidFill>
              </a:rPr>
              <a:t>Overview of Projects</a:t>
            </a:r>
            <a:endParaRPr lang="en-US" dirty="0"/>
          </a:p>
        </p:txBody>
      </p:sp>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48318" y="1481138"/>
            <a:ext cx="2141764" cy="514350"/>
          </a:xfrm>
        </p:spPr>
        <p:txBody>
          <a:bodyPr vert="horz" lIns="91440" tIns="45720" rIns="91440" bIns="45720" rtlCol="0" anchor="ctr">
            <a:normAutofit/>
          </a:bodyPr>
          <a:lstStyle/>
          <a:p>
            <a:r>
              <a:rPr lang="en-US" sz="1400" dirty="0"/>
              <a:t>GAmeCo</a:t>
            </a:r>
            <a:r>
              <a:rPr lang="en-US" dirty="0"/>
              <a:t>.</a:t>
            </a:r>
          </a:p>
        </p:txBody>
      </p:sp>
      <p:sp>
        <p:nvSpPr>
          <p:cNvPr id="4" name="Text Placeholder 3">
            <a:extLst>
              <a:ext uri="{FF2B5EF4-FFF2-40B4-BE49-F238E27FC236}">
                <a16:creationId xmlns:a16="http://schemas.microsoft.com/office/drawing/2014/main" id="{F5FF1291-56EB-4A7B-A198-1D91F9ECC5D3}"/>
              </a:ext>
            </a:extLst>
          </p:cNvPr>
          <p:cNvSpPr>
            <a:spLocks noGrp="1"/>
          </p:cNvSpPr>
          <p:nvPr>
            <p:ph type="body" sz="quarter" idx="14"/>
          </p:nvPr>
        </p:nvSpPr>
        <p:spPr>
          <a:xfrm>
            <a:off x="714375" y="2557463"/>
            <a:ext cx="2141764" cy="514350"/>
          </a:xfrm>
        </p:spPr>
        <p:txBody>
          <a:bodyPr/>
          <a:lstStyle/>
          <a:p>
            <a:r>
              <a:rPr lang="en-US" sz="1400" dirty="0"/>
              <a:t>Hospital Staffing Agency</a:t>
            </a:r>
          </a:p>
        </p:txBody>
      </p:sp>
      <p:sp>
        <p:nvSpPr>
          <p:cNvPr id="5" name="Text Placeholder 4">
            <a:extLst>
              <a:ext uri="{FF2B5EF4-FFF2-40B4-BE49-F238E27FC236}">
                <a16:creationId xmlns:a16="http://schemas.microsoft.com/office/drawing/2014/main" id="{6184E21C-7534-4FB5-9709-F7D1A11034F3}"/>
              </a:ext>
            </a:extLst>
          </p:cNvPr>
          <p:cNvSpPr>
            <a:spLocks noGrp="1"/>
          </p:cNvSpPr>
          <p:nvPr>
            <p:ph type="body" sz="quarter" idx="15"/>
          </p:nvPr>
        </p:nvSpPr>
        <p:spPr>
          <a:xfrm>
            <a:off x="1320800" y="3633788"/>
            <a:ext cx="2141764" cy="514350"/>
          </a:xfrm>
        </p:spPr>
        <p:txBody>
          <a:bodyPr/>
          <a:lstStyle/>
          <a:p>
            <a:r>
              <a:rPr lang="en-US" sz="1400" dirty="0"/>
              <a:t>Rockbuster Stealth LLC</a:t>
            </a:r>
          </a:p>
        </p:txBody>
      </p:sp>
      <p:sp>
        <p:nvSpPr>
          <p:cNvPr id="6" name="Text Placeholder 5">
            <a:extLst>
              <a:ext uri="{FF2B5EF4-FFF2-40B4-BE49-F238E27FC236}">
                <a16:creationId xmlns:a16="http://schemas.microsoft.com/office/drawing/2014/main" id="{5C594564-4FC6-401A-8586-44735EE819EC}"/>
              </a:ext>
            </a:extLst>
          </p:cNvPr>
          <p:cNvSpPr>
            <a:spLocks noGrp="1"/>
          </p:cNvSpPr>
          <p:nvPr>
            <p:ph type="body" sz="quarter" idx="16"/>
          </p:nvPr>
        </p:nvSpPr>
        <p:spPr>
          <a:xfrm>
            <a:off x="1905000" y="4710114"/>
            <a:ext cx="2141764" cy="514350"/>
          </a:xfrm>
        </p:spPr>
        <p:txBody>
          <a:bodyPr/>
          <a:lstStyle/>
          <a:p>
            <a:r>
              <a:rPr lang="en-US" sz="1400" dirty="0"/>
              <a:t>Instacart basket analysis</a:t>
            </a:r>
          </a:p>
        </p:txBody>
      </p:sp>
      <p:sp>
        <p:nvSpPr>
          <p:cNvPr id="7" name="Text Placehold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a:lstStyle/>
          <a:p>
            <a:r>
              <a:rPr lang="en-US" dirty="0">
                <a:solidFill>
                  <a:schemeClr val="bg1"/>
                </a:solidFill>
              </a:rPr>
              <a:t>Analyzed global video game sales to create a strategy to allocate resources based on its client trends over time. </a:t>
            </a:r>
          </a:p>
        </p:txBody>
      </p:sp>
      <p:sp>
        <p:nvSpPr>
          <p:cNvPr id="8" name="Text Placehold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82564"/>
            <a:ext cx="5539095" cy="1010842"/>
          </a:xfrm>
        </p:spPr>
        <p:txBody>
          <a:bodyPr/>
          <a:lstStyle/>
          <a:p>
            <a:r>
              <a:rPr lang="en-US" dirty="0">
                <a:solidFill>
                  <a:schemeClr val="bg1"/>
                </a:solidFill>
              </a:rPr>
              <a:t>Evaluated Influenza deaths across the United States of America to better prepare and staff Hospitals to reduce the number of Influenza related deaths. </a:t>
            </a:r>
          </a:p>
        </p:txBody>
      </p:sp>
      <p:sp>
        <p:nvSpPr>
          <p:cNvPr id="9" name="Text Placehold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a:lstStyle/>
          <a:p>
            <a:r>
              <a:rPr lang="en-US" dirty="0">
                <a:solidFill>
                  <a:schemeClr val="bg1"/>
                </a:solidFill>
              </a:rPr>
              <a:t>Examined Rockbuster’s top global clients to help launch Rockbusters new online streaming video service. </a:t>
            </a:r>
            <a:endParaRPr lang="en-US" dirty="0"/>
          </a:p>
        </p:txBody>
      </p:sp>
      <p:sp>
        <p:nvSpPr>
          <p:cNvPr id="10" name="Text Placehold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539095" cy="1010842"/>
          </a:xfrm>
        </p:spPr>
        <p:txBody>
          <a:bodyPr/>
          <a:lstStyle/>
          <a:p>
            <a:r>
              <a:rPr lang="en-US" dirty="0">
                <a:solidFill>
                  <a:schemeClr val="bg1"/>
                </a:solidFill>
              </a:rPr>
              <a:t>Developed a strong understanding of Instacart's clients and basket of goods to help solve business problems and drive revenue. </a:t>
            </a:r>
          </a:p>
          <a:p>
            <a:endParaRPr lang="en-US" dirty="0"/>
          </a:p>
        </p:txBody>
      </p:sp>
      <p:sp>
        <p:nvSpPr>
          <p:cNvPr id="11" name="Date Placeholder 10">
            <a:extLst>
              <a:ext uri="{FF2B5EF4-FFF2-40B4-BE49-F238E27FC236}">
                <a16:creationId xmlns:a16="http://schemas.microsoft.com/office/drawing/2014/main" id="{40BF6865-7FAE-4B56-A995-ADF1582DCC64}"/>
              </a:ext>
            </a:extLst>
          </p:cNvPr>
          <p:cNvSpPr>
            <a:spLocks noGrp="1"/>
          </p:cNvSpPr>
          <p:nvPr>
            <p:ph type="dt" sz="half" idx="10"/>
          </p:nvPr>
        </p:nvSpPr>
        <p:spPr>
          <a:xfrm>
            <a:off x="838200" y="6356350"/>
            <a:ext cx="2743200" cy="365125"/>
          </a:xfrm>
        </p:spPr>
        <p:txBody>
          <a:bodyPr/>
          <a:lstStyle/>
          <a:p>
            <a:r>
              <a:rPr lang="en-US" dirty="0"/>
              <a:t>20XX</a:t>
            </a:r>
          </a:p>
        </p:txBody>
      </p:sp>
      <p:sp>
        <p:nvSpPr>
          <p:cNvPr id="12" name="Footer Placeholder 11">
            <a:extLst>
              <a:ext uri="{FF2B5EF4-FFF2-40B4-BE49-F238E27FC236}">
                <a16:creationId xmlns:a16="http://schemas.microsoft.com/office/drawing/2014/main" id="{7312B71A-5E84-41DE-9754-5F6291F6DFB7}"/>
              </a:ext>
            </a:extLst>
          </p:cNvPr>
          <p:cNvSpPr>
            <a:spLocks noGrp="1"/>
          </p:cNvSpPr>
          <p:nvPr>
            <p:ph type="ftr" sz="quarter" idx="11"/>
          </p:nvPr>
        </p:nvSpPr>
        <p:spPr>
          <a:xfrm>
            <a:off x="6155823" y="6356350"/>
            <a:ext cx="1808712" cy="365125"/>
          </a:xfrm>
        </p:spPr>
        <p:txBody>
          <a:bodyPr/>
          <a:lstStyle/>
          <a:p>
            <a:r>
              <a:rPr lang="en-US" dirty="0"/>
              <a:t>Pitch Deck</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2</a:t>
            </a:fld>
            <a:endParaRPr lang="en-US" dirty="0"/>
          </a:p>
        </p:txBody>
      </p:sp>
      <p:sp>
        <p:nvSpPr>
          <p:cNvPr id="14" name="Text Placeholder 5">
            <a:extLst>
              <a:ext uri="{FF2B5EF4-FFF2-40B4-BE49-F238E27FC236}">
                <a16:creationId xmlns:a16="http://schemas.microsoft.com/office/drawing/2014/main" id="{AF6248C5-E06D-4EF2-F3D4-117960954E59}"/>
              </a:ext>
            </a:extLst>
          </p:cNvPr>
          <p:cNvSpPr txBox="1">
            <a:spLocks/>
          </p:cNvSpPr>
          <p:nvPr/>
        </p:nvSpPr>
        <p:spPr>
          <a:xfrm>
            <a:off x="2206437" y="5783662"/>
            <a:ext cx="2141764" cy="514350"/>
          </a:xfrm>
          <a:prstGeom prst="rect">
            <a:avLst/>
          </a:prstGeom>
        </p:spPr>
        <p:txBody>
          <a:bodyPr vert="horz" lIns="91440" tIns="45720" rIns="91440" bIns="45720" rtlCol="0" anchor="ctr">
            <a:noAutofit/>
          </a:bodyPr>
          <a:lstStyle>
            <a:lvl1pPr marL="0" indent="0" algn="r" defTabSz="914400" rtl="0" eaLnBrk="1" latinLnBrk="0" hangingPunct="1">
              <a:lnSpc>
                <a:spcPct val="90000"/>
              </a:lnSpc>
              <a:spcBef>
                <a:spcPts val="1000"/>
              </a:spcBef>
              <a:buFont typeface="Arial" panose="020B0604020202020204" pitchFamily="34" charset="0"/>
              <a:buNone/>
              <a:defRPr sz="1600" kern="1200" cap="all" spc="150" baseline="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NYC Yellow </a:t>
            </a:r>
          </a:p>
        </p:txBody>
      </p:sp>
      <p:pic>
        <p:nvPicPr>
          <p:cNvPr id="16" name="Picture 15">
            <a:extLst>
              <a:ext uri="{FF2B5EF4-FFF2-40B4-BE49-F238E27FC236}">
                <a16:creationId xmlns:a16="http://schemas.microsoft.com/office/drawing/2014/main" id="{C558B29C-C3F1-9904-5D6A-336252D2FA7F}"/>
              </a:ext>
            </a:extLst>
          </p:cNvPr>
          <p:cNvPicPr>
            <a:picLocks noChangeAspect="1"/>
          </p:cNvPicPr>
          <p:nvPr/>
        </p:nvPicPr>
        <p:blipFill>
          <a:blip r:embed="rId2"/>
          <a:stretch>
            <a:fillRect/>
          </a:stretch>
        </p:blipFill>
        <p:spPr>
          <a:xfrm>
            <a:off x="4790624" y="5783662"/>
            <a:ext cx="1838582" cy="619211"/>
          </a:xfrm>
          <a:prstGeom prst="rect">
            <a:avLst/>
          </a:prstGeom>
        </p:spPr>
      </p:pic>
      <p:sp>
        <p:nvSpPr>
          <p:cNvPr id="20" name="TextBox 19">
            <a:extLst>
              <a:ext uri="{FF2B5EF4-FFF2-40B4-BE49-F238E27FC236}">
                <a16:creationId xmlns:a16="http://schemas.microsoft.com/office/drawing/2014/main" id="{B466EFF8-D513-2B39-8A76-796183483036}"/>
              </a:ext>
            </a:extLst>
          </p:cNvPr>
          <p:cNvSpPr txBox="1"/>
          <p:nvPr/>
        </p:nvSpPr>
        <p:spPr>
          <a:xfrm>
            <a:off x="6735631" y="5855238"/>
            <a:ext cx="4253730" cy="523220"/>
          </a:xfrm>
          <a:prstGeom prst="rect">
            <a:avLst/>
          </a:prstGeom>
          <a:noFill/>
        </p:spPr>
        <p:txBody>
          <a:bodyPr wrap="square">
            <a:spAutoFit/>
          </a:bodyPr>
          <a:lstStyle/>
          <a:p>
            <a:r>
              <a:rPr lang="en-US" sz="1400" spc="50" dirty="0">
                <a:solidFill>
                  <a:schemeClr val="bg1"/>
                </a:solidFill>
              </a:rPr>
              <a:t>Find options to increase revenue and enhance the value proposition to our cab drivers</a:t>
            </a:r>
          </a:p>
        </p:txBody>
      </p:sp>
    </p:spTree>
    <p:extLst>
      <p:ext uri="{BB962C8B-B14F-4D97-AF65-F5344CB8AC3E}">
        <p14:creationId xmlns:p14="http://schemas.microsoft.com/office/powerpoint/2010/main" val="1738561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269968" y="-662782"/>
            <a:ext cx="3171825" cy="1325563"/>
          </a:xfrm>
        </p:spPr>
        <p:txBody>
          <a:bodyPr/>
          <a:lstStyle/>
          <a:p>
            <a:r>
              <a:rPr lang="en-ZA" dirty="0"/>
              <a:t>Gameco. </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73990" y="1036492"/>
            <a:ext cx="7202854" cy="1146890"/>
          </a:xfrm>
        </p:spPr>
        <p:txBody>
          <a:bodyPr>
            <a:normAutofit/>
          </a:bodyPr>
          <a:lstStyle/>
          <a:p>
            <a:r>
              <a:rPr lang="en-US" sz="1200" dirty="0">
                <a:solidFill>
                  <a:schemeClr val="tx1"/>
                </a:solidFill>
              </a:rPr>
              <a:t>Objective: </a:t>
            </a:r>
          </a:p>
          <a:p>
            <a:r>
              <a:rPr lang="en-US" sz="1200" dirty="0">
                <a:solidFill>
                  <a:schemeClr val="tx1"/>
                </a:solidFill>
              </a:rPr>
              <a:t>As such, you’ve been asked to perform a descriptive analysis of a video game data set to foster a better understanding of how GameCo’s new games might fare in the market.</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ZA" smtClean="0"/>
              <a:pPr/>
              <a:t>3</a:t>
            </a:fld>
            <a:endParaRPr lang="en-ZA" dirty="0"/>
          </a:p>
        </p:txBody>
      </p:sp>
      <p:sp>
        <p:nvSpPr>
          <p:cNvPr id="8" name="TextBox 7">
            <a:extLst>
              <a:ext uri="{FF2B5EF4-FFF2-40B4-BE49-F238E27FC236}">
                <a16:creationId xmlns:a16="http://schemas.microsoft.com/office/drawing/2014/main" id="{126F4026-9D92-D311-6DDE-28138B8B4D62}"/>
              </a:ext>
            </a:extLst>
          </p:cNvPr>
          <p:cNvSpPr txBox="1"/>
          <p:nvPr/>
        </p:nvSpPr>
        <p:spPr>
          <a:xfrm>
            <a:off x="173990" y="2287758"/>
            <a:ext cx="6035644" cy="830997"/>
          </a:xfrm>
          <a:prstGeom prst="rect">
            <a:avLst/>
          </a:prstGeom>
          <a:noFill/>
        </p:spPr>
        <p:txBody>
          <a:bodyPr wrap="square">
            <a:spAutoFit/>
          </a:bodyPr>
          <a:lstStyle/>
          <a:p>
            <a:r>
              <a:rPr lang="en-US" sz="1200" dirty="0">
                <a:solidFill>
                  <a:schemeClr val="tx1">
                    <a:lumMod val="75000"/>
                    <a:lumOff val="25000"/>
                  </a:schemeClr>
                </a:solidFill>
              </a:rPr>
              <a:t>Dataset:</a:t>
            </a:r>
          </a:p>
          <a:p>
            <a:r>
              <a:rPr lang="en-US" sz="1200" dirty="0">
                <a:hlinkClick r:id="rId2">
                  <a:extLst>
                    <a:ext uri="{A12FA001-AC4F-418D-AE19-62706E023703}">
                      <ahyp:hlinkClr xmlns:ahyp="http://schemas.microsoft.com/office/drawing/2018/hyperlinkcolor" val="tx"/>
                    </a:ext>
                  </a:extLst>
                </a:hlinkClick>
              </a:rPr>
              <a:t>Video Game Dataset from VGChartz's</a:t>
            </a:r>
            <a:endParaRPr lang="en-US" sz="1200" dirty="0"/>
          </a:p>
          <a:p>
            <a:endParaRPr lang="en-US" sz="1200" dirty="0">
              <a:solidFill>
                <a:schemeClr val="tx1">
                  <a:lumMod val="75000"/>
                  <a:lumOff val="25000"/>
                </a:schemeClr>
              </a:solidFill>
            </a:endParaRPr>
          </a:p>
          <a:p>
            <a:endParaRPr lang="en-US" sz="1200" dirty="0">
              <a:solidFill>
                <a:schemeClr val="tx1">
                  <a:lumMod val="75000"/>
                  <a:lumOff val="25000"/>
                </a:schemeClr>
              </a:solidFill>
            </a:endParaRPr>
          </a:p>
        </p:txBody>
      </p:sp>
      <p:sp>
        <p:nvSpPr>
          <p:cNvPr id="10" name="TextBox 9">
            <a:extLst>
              <a:ext uri="{FF2B5EF4-FFF2-40B4-BE49-F238E27FC236}">
                <a16:creationId xmlns:a16="http://schemas.microsoft.com/office/drawing/2014/main" id="{6205E42C-3885-622D-6A72-412106523FF4}"/>
              </a:ext>
            </a:extLst>
          </p:cNvPr>
          <p:cNvSpPr txBox="1"/>
          <p:nvPr/>
        </p:nvSpPr>
        <p:spPr>
          <a:xfrm>
            <a:off x="173990" y="3510637"/>
            <a:ext cx="2647868" cy="1769286"/>
          </a:xfrm>
          <a:prstGeom prst="rect">
            <a:avLst/>
          </a:prstGeom>
          <a:noFill/>
        </p:spPr>
        <p:txBody>
          <a:bodyPr wrap="square">
            <a:spAutoFit/>
          </a:bodyPr>
          <a:lstStyle/>
          <a:p>
            <a:r>
              <a:rPr lang="en-US" sz="1200" dirty="0">
                <a:solidFill>
                  <a:schemeClr val="tx1">
                    <a:lumMod val="75000"/>
                    <a:lumOff val="25000"/>
                  </a:schemeClr>
                </a:solidFill>
              </a:rPr>
              <a:t>Skills Used:</a:t>
            </a:r>
          </a:p>
          <a:p>
            <a:endParaRPr lang="en-US" sz="1200" dirty="0">
              <a:solidFill>
                <a:schemeClr val="tx1">
                  <a:lumMod val="75000"/>
                  <a:lumOff val="25000"/>
                </a:schemeClr>
              </a:solidFill>
            </a:endParaRPr>
          </a:p>
          <a:p>
            <a:pPr marL="285750" indent="-285750">
              <a:buFont typeface="Arial" panose="020B0604020202020204" pitchFamily="34" charset="0"/>
              <a:buChar char="•"/>
            </a:pPr>
            <a:r>
              <a:rPr lang="en-US" sz="1200" dirty="0">
                <a:solidFill>
                  <a:schemeClr val="tx1">
                    <a:lumMod val="75000"/>
                    <a:lumOff val="25000"/>
                  </a:schemeClr>
                </a:solidFill>
              </a:rPr>
              <a:t>Grouping Data</a:t>
            </a:r>
          </a:p>
          <a:p>
            <a:pPr marL="285750" indent="-285750">
              <a:buFont typeface="Arial" panose="020B0604020202020204" pitchFamily="34" charset="0"/>
              <a:buChar char="•"/>
            </a:pPr>
            <a:r>
              <a:rPr lang="en-US" sz="1200" dirty="0">
                <a:solidFill>
                  <a:schemeClr val="tx1">
                    <a:lumMod val="75000"/>
                    <a:lumOff val="25000"/>
                  </a:schemeClr>
                </a:solidFill>
              </a:rPr>
              <a:t>Summarizing Data</a:t>
            </a:r>
          </a:p>
          <a:p>
            <a:pPr marL="285750" indent="-285750">
              <a:buFont typeface="Arial" panose="020B0604020202020204" pitchFamily="34" charset="0"/>
              <a:buChar char="•"/>
            </a:pPr>
            <a:r>
              <a:rPr lang="en-US" sz="1200" dirty="0">
                <a:solidFill>
                  <a:schemeClr val="tx1">
                    <a:lumMod val="75000"/>
                    <a:lumOff val="25000"/>
                  </a:schemeClr>
                </a:solidFill>
              </a:rPr>
              <a:t>Descriptive Analysis</a:t>
            </a:r>
          </a:p>
          <a:p>
            <a:pPr marL="285750" indent="-285750">
              <a:buFont typeface="Arial" panose="020B0604020202020204" pitchFamily="34" charset="0"/>
              <a:buChar char="•"/>
            </a:pPr>
            <a:r>
              <a:rPr lang="en-US" sz="1200" dirty="0">
                <a:solidFill>
                  <a:schemeClr val="tx1">
                    <a:lumMod val="75000"/>
                    <a:lumOff val="25000"/>
                  </a:schemeClr>
                </a:solidFill>
              </a:rPr>
              <a:t>Visualizing Data in Excel</a:t>
            </a:r>
          </a:p>
          <a:p>
            <a:pPr marL="285750" indent="-285750">
              <a:buFont typeface="Arial" panose="020B0604020202020204" pitchFamily="34" charset="0"/>
              <a:buChar char="•"/>
            </a:pPr>
            <a:r>
              <a:rPr lang="en-US" sz="1200" dirty="0">
                <a:solidFill>
                  <a:schemeClr val="tx1">
                    <a:lumMod val="75000"/>
                    <a:lumOff val="25000"/>
                  </a:schemeClr>
                </a:solidFill>
              </a:rPr>
              <a:t>Presenting Data</a:t>
            </a:r>
          </a:p>
          <a:p>
            <a:pPr marL="285750" indent="-285750">
              <a:buFont typeface="Arial" panose="020B0604020202020204" pitchFamily="34" charset="0"/>
              <a:buChar char="•"/>
            </a:pPr>
            <a:r>
              <a:rPr lang="en-US" sz="1200" dirty="0">
                <a:solidFill>
                  <a:schemeClr val="tx1">
                    <a:lumMod val="75000"/>
                    <a:lumOff val="25000"/>
                  </a:schemeClr>
                </a:solidFill>
              </a:rPr>
              <a:t>Cleaning and Formatting Data</a:t>
            </a:r>
          </a:p>
          <a:p>
            <a:endParaRPr lang="en-US" sz="1200" dirty="0">
              <a:solidFill>
                <a:schemeClr val="tx1">
                  <a:lumMod val="75000"/>
                  <a:lumOff val="25000"/>
                </a:schemeClr>
              </a:solidFill>
            </a:endParaRPr>
          </a:p>
        </p:txBody>
      </p:sp>
      <p:sp>
        <p:nvSpPr>
          <p:cNvPr id="14" name="TextBox 13">
            <a:extLst>
              <a:ext uri="{FF2B5EF4-FFF2-40B4-BE49-F238E27FC236}">
                <a16:creationId xmlns:a16="http://schemas.microsoft.com/office/drawing/2014/main" id="{83BDB46B-699D-E6F8-165B-3E67539CDBDB}"/>
              </a:ext>
            </a:extLst>
          </p:cNvPr>
          <p:cNvSpPr txBox="1"/>
          <p:nvPr/>
        </p:nvSpPr>
        <p:spPr>
          <a:xfrm>
            <a:off x="4870806" y="3430441"/>
            <a:ext cx="1225194" cy="646331"/>
          </a:xfrm>
          <a:prstGeom prst="rect">
            <a:avLst/>
          </a:prstGeom>
          <a:noFill/>
        </p:spPr>
        <p:txBody>
          <a:bodyPr wrap="square">
            <a:spAutoFit/>
          </a:bodyPr>
          <a:lstStyle/>
          <a:p>
            <a:r>
              <a:rPr lang="en-US" sz="1200" dirty="0">
                <a:solidFill>
                  <a:schemeClr val="tx1">
                    <a:lumMod val="75000"/>
                    <a:lumOff val="25000"/>
                  </a:schemeClr>
                </a:solidFill>
              </a:rPr>
              <a:t>Tools Used:</a:t>
            </a:r>
          </a:p>
          <a:p>
            <a:endParaRPr lang="en-US" sz="1200" dirty="0">
              <a:solidFill>
                <a:schemeClr val="tx1">
                  <a:lumMod val="75000"/>
                  <a:lumOff val="25000"/>
                </a:schemeClr>
              </a:solidFill>
            </a:endParaRPr>
          </a:p>
          <a:p>
            <a:endParaRPr lang="en-US" sz="1200" dirty="0">
              <a:solidFill>
                <a:schemeClr val="tx1">
                  <a:lumMod val="75000"/>
                  <a:lumOff val="25000"/>
                </a:schemeClr>
              </a:solidFill>
            </a:endParaRPr>
          </a:p>
        </p:txBody>
      </p:sp>
      <p:pic>
        <p:nvPicPr>
          <p:cNvPr id="16" name="Picture 15">
            <a:extLst>
              <a:ext uri="{FF2B5EF4-FFF2-40B4-BE49-F238E27FC236}">
                <a16:creationId xmlns:a16="http://schemas.microsoft.com/office/drawing/2014/main" id="{91386920-5369-E1B3-C88D-B19DA45CEAA4}"/>
              </a:ext>
            </a:extLst>
          </p:cNvPr>
          <p:cNvPicPr>
            <a:picLocks noChangeAspect="1"/>
          </p:cNvPicPr>
          <p:nvPr/>
        </p:nvPicPr>
        <p:blipFill>
          <a:blip r:embed="rId3"/>
          <a:stretch>
            <a:fillRect/>
          </a:stretch>
        </p:blipFill>
        <p:spPr>
          <a:xfrm>
            <a:off x="4507379" y="4161768"/>
            <a:ext cx="726854" cy="4723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8" name="Picture 17">
            <a:extLst>
              <a:ext uri="{FF2B5EF4-FFF2-40B4-BE49-F238E27FC236}">
                <a16:creationId xmlns:a16="http://schemas.microsoft.com/office/drawing/2014/main" id="{638264EC-E90B-A5F7-EF25-9A7AF0EEA3FB}"/>
              </a:ext>
            </a:extLst>
          </p:cNvPr>
          <p:cNvPicPr>
            <a:picLocks noChangeAspect="1"/>
          </p:cNvPicPr>
          <p:nvPr/>
        </p:nvPicPr>
        <p:blipFill>
          <a:blip r:embed="rId4"/>
          <a:stretch>
            <a:fillRect/>
          </a:stretch>
        </p:blipFill>
        <p:spPr>
          <a:xfrm>
            <a:off x="5426325" y="4161768"/>
            <a:ext cx="783309" cy="482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43494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id="{ABF364EE-529B-A5EB-722E-4AAA416E4154}"/>
              </a:ext>
            </a:extLst>
          </p:cNvPr>
          <p:cNvSpPr txBox="1"/>
          <p:nvPr/>
        </p:nvSpPr>
        <p:spPr>
          <a:xfrm>
            <a:off x="25227" y="4244409"/>
            <a:ext cx="6105832" cy="1569660"/>
          </a:xfrm>
          <a:prstGeom prst="rect">
            <a:avLst/>
          </a:prstGeom>
          <a:noFill/>
        </p:spPr>
        <p:txBody>
          <a:bodyPr wrap="square">
            <a:spAutoFit/>
          </a:bodyPr>
          <a:lstStyle/>
          <a:p>
            <a:pPr marL="285750" indent="-285750">
              <a:buFont typeface="Arial" panose="020B0604020202020204" pitchFamily="34" charset="0"/>
              <a:buChar char="•"/>
            </a:pPr>
            <a:r>
              <a:rPr lang="en-US" sz="1200" dirty="0"/>
              <a:t>European market share has been steadily gaining without any major dips or long-term corrections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Japanese market share has declined over the entire period but has steadily gained ground since overall global sales peak in 2008</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It appears that the European and Japanese markets are slowly gaining market share of global sales</a:t>
            </a:r>
          </a:p>
        </p:txBody>
      </p:sp>
      <p:sp>
        <p:nvSpPr>
          <p:cNvPr id="34" name="TextBox 33">
            <a:extLst>
              <a:ext uri="{FF2B5EF4-FFF2-40B4-BE49-F238E27FC236}">
                <a16:creationId xmlns:a16="http://schemas.microsoft.com/office/drawing/2014/main" id="{2A01369E-EA96-A4B1-A603-409872AE3D34}"/>
              </a:ext>
            </a:extLst>
          </p:cNvPr>
          <p:cNvSpPr txBox="1"/>
          <p:nvPr/>
        </p:nvSpPr>
        <p:spPr>
          <a:xfrm>
            <a:off x="5893792" y="4244409"/>
            <a:ext cx="6272981" cy="1569660"/>
          </a:xfrm>
          <a:prstGeom prst="rect">
            <a:avLst/>
          </a:prstGeom>
          <a:noFill/>
        </p:spPr>
        <p:txBody>
          <a:bodyPr wrap="square">
            <a:spAutoFit/>
          </a:bodyPr>
          <a:lstStyle/>
          <a:p>
            <a:pPr marL="285750" indent="-285750">
              <a:buFont typeface="Arial" panose="020B0604020202020204" pitchFamily="34" charset="0"/>
              <a:buChar char="•"/>
            </a:pPr>
            <a:r>
              <a:rPr lang="en-US" sz="1200" dirty="0"/>
              <a:t>North America has a strong presence in most categories; but Role-Playing &amp; Strategy are the worst performing genres.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European Sales has a strong presence in Racing &amp; Shooter games – this is especially true when comparing to Japanese Market share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Japanese Sales has a strong presence in Role Playing and Strategy Genre’s with a weak performance in Shooter, Sports, Action and Racing genres</a:t>
            </a:r>
          </a:p>
        </p:txBody>
      </p:sp>
      <p:sp>
        <p:nvSpPr>
          <p:cNvPr id="5" name="TextBox 4">
            <a:extLst>
              <a:ext uri="{FF2B5EF4-FFF2-40B4-BE49-F238E27FC236}">
                <a16:creationId xmlns:a16="http://schemas.microsoft.com/office/drawing/2014/main" id="{91A6CEBD-BF6F-D542-94D4-6AAB272FA190}"/>
              </a:ext>
            </a:extLst>
          </p:cNvPr>
          <p:cNvSpPr txBox="1"/>
          <p:nvPr/>
        </p:nvSpPr>
        <p:spPr>
          <a:xfrm>
            <a:off x="5893792" y="452206"/>
            <a:ext cx="6094674" cy="307777"/>
          </a:xfrm>
          <a:prstGeom prst="rect">
            <a:avLst/>
          </a:prstGeom>
          <a:noFill/>
        </p:spPr>
        <p:txBody>
          <a:bodyPr wrap="square">
            <a:spAutoFit/>
          </a:bodyPr>
          <a:lstStyle/>
          <a:p>
            <a:pPr algn="ctr" rtl="0">
              <a:defRPr sz="1400" b="0" i="0" u="none" strike="noStrike" kern="1200" spc="0" baseline="0">
                <a:solidFill>
                  <a:prstClr val="white">
                    <a:lumMod val="65000"/>
                    <a:lumOff val="35000"/>
                  </a:prstClr>
                </a:solidFill>
                <a:latin typeface="+mn-lt"/>
                <a:ea typeface="+mn-ea"/>
                <a:cs typeface="+mn-cs"/>
              </a:defRPr>
            </a:pPr>
            <a:r>
              <a:rPr lang="en-US" dirty="0"/>
              <a:t>Regional</a:t>
            </a:r>
            <a:r>
              <a:rPr lang="en-US" baseline="0" dirty="0"/>
              <a:t> Video Game</a:t>
            </a:r>
            <a:r>
              <a:rPr lang="en-US" dirty="0"/>
              <a:t> Genre Preference’s in relation</a:t>
            </a:r>
            <a:r>
              <a:rPr lang="en-US" baseline="0" dirty="0"/>
              <a:t> to Revenue</a:t>
            </a:r>
            <a:r>
              <a:rPr lang="en-US" dirty="0"/>
              <a:t> </a:t>
            </a:r>
          </a:p>
        </p:txBody>
      </p:sp>
      <p:pic>
        <p:nvPicPr>
          <p:cNvPr id="6" name="Picture 5">
            <a:extLst>
              <a:ext uri="{FF2B5EF4-FFF2-40B4-BE49-F238E27FC236}">
                <a16:creationId xmlns:a16="http://schemas.microsoft.com/office/drawing/2014/main" id="{810F96B6-220A-B7A0-04A2-6ECF4A8B07FE}"/>
              </a:ext>
            </a:extLst>
          </p:cNvPr>
          <p:cNvPicPr>
            <a:picLocks noChangeAspect="1"/>
          </p:cNvPicPr>
          <p:nvPr/>
        </p:nvPicPr>
        <p:blipFill>
          <a:blip r:embed="rId2"/>
          <a:stretch>
            <a:fillRect/>
          </a:stretch>
        </p:blipFill>
        <p:spPr>
          <a:xfrm>
            <a:off x="6787946" y="1011783"/>
            <a:ext cx="4306365" cy="2585969"/>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0C9378A1-88D5-1721-25BC-887FF48EBA5E}"/>
              </a:ext>
            </a:extLst>
          </p:cNvPr>
          <p:cNvSpPr txBox="1"/>
          <p:nvPr/>
        </p:nvSpPr>
        <p:spPr>
          <a:xfrm>
            <a:off x="36385" y="452206"/>
            <a:ext cx="6094674" cy="307777"/>
          </a:xfrm>
          <a:prstGeom prst="rect">
            <a:avLst/>
          </a:prstGeom>
          <a:noFill/>
        </p:spPr>
        <p:txBody>
          <a:bodyPr wrap="square">
            <a:spAutoFit/>
          </a:bodyPr>
          <a:lstStyle/>
          <a:p>
            <a:pPr algn="ctr" rtl="0">
              <a:defRPr sz="1400" b="0" i="0" u="none" strike="noStrike" kern="1200" spc="0" baseline="0">
                <a:solidFill>
                  <a:prstClr val="white">
                    <a:lumMod val="65000"/>
                    <a:lumOff val="35000"/>
                  </a:prstClr>
                </a:solidFill>
                <a:latin typeface="+mn-lt"/>
                <a:ea typeface="+mn-ea"/>
                <a:cs typeface="+mn-cs"/>
              </a:defRPr>
            </a:pPr>
            <a:r>
              <a:rPr lang="en-US" dirty="0"/>
              <a:t>Regional Revenue</a:t>
            </a:r>
            <a:r>
              <a:rPr lang="en-US" baseline="0" dirty="0"/>
              <a:t> Compared Against Global Revenue</a:t>
            </a:r>
          </a:p>
        </p:txBody>
      </p:sp>
      <p:pic>
        <p:nvPicPr>
          <p:cNvPr id="12" name="Picture 11">
            <a:extLst>
              <a:ext uri="{FF2B5EF4-FFF2-40B4-BE49-F238E27FC236}">
                <a16:creationId xmlns:a16="http://schemas.microsoft.com/office/drawing/2014/main" id="{9407CB3B-F858-D6F1-E04F-0097A71596F4}"/>
              </a:ext>
            </a:extLst>
          </p:cNvPr>
          <p:cNvPicPr>
            <a:picLocks noChangeAspect="1"/>
          </p:cNvPicPr>
          <p:nvPr/>
        </p:nvPicPr>
        <p:blipFill>
          <a:blip r:embed="rId3"/>
          <a:stretch>
            <a:fillRect/>
          </a:stretch>
        </p:blipFill>
        <p:spPr>
          <a:xfrm>
            <a:off x="784711" y="1011782"/>
            <a:ext cx="4385878" cy="2585969"/>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36087B5-0BF8-B906-4496-64E9C5A29789}"/>
              </a:ext>
            </a:extLst>
          </p:cNvPr>
          <p:cNvSpPr txBox="1"/>
          <p:nvPr/>
        </p:nvSpPr>
        <p:spPr>
          <a:xfrm>
            <a:off x="6096000" y="4410330"/>
            <a:ext cx="6096000" cy="1569660"/>
          </a:xfrm>
          <a:prstGeom prst="rect">
            <a:avLst/>
          </a:prstGeom>
          <a:noFill/>
        </p:spPr>
        <p:txBody>
          <a:bodyPr wrap="square">
            <a:spAutoFit/>
          </a:bodyPr>
          <a:lstStyle/>
          <a:p>
            <a:pPr marL="285750" indent="-285750">
              <a:buFont typeface="Arial" panose="020B0604020202020204" pitchFamily="34" charset="0"/>
              <a:buChar char="•"/>
            </a:pPr>
            <a:r>
              <a:rPr lang="en-US" sz="1200" dirty="0"/>
              <a:t>What we found is that since 2008 Europe has  clearly gained a large percentage of market share from North America in North America’s most lucrative genre’s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Japan has gained in sales in these genres as well but not nearly as large of gains, but its clear that Europe and Japan are taking market share from North America.</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Based on this information we recommend to allocate less capital towards North America  and a higher allocation to Europe for these genres. </a:t>
            </a:r>
          </a:p>
        </p:txBody>
      </p:sp>
      <p:sp>
        <p:nvSpPr>
          <p:cNvPr id="10" name="TextBox 9">
            <a:extLst>
              <a:ext uri="{FF2B5EF4-FFF2-40B4-BE49-F238E27FC236}">
                <a16:creationId xmlns:a16="http://schemas.microsoft.com/office/drawing/2014/main" id="{6F93C7D6-DE9A-1B7D-026B-2A392B59E082}"/>
              </a:ext>
            </a:extLst>
          </p:cNvPr>
          <p:cNvSpPr txBox="1"/>
          <p:nvPr/>
        </p:nvSpPr>
        <p:spPr>
          <a:xfrm>
            <a:off x="85978" y="4548829"/>
            <a:ext cx="5577704" cy="646331"/>
          </a:xfrm>
          <a:prstGeom prst="rect">
            <a:avLst/>
          </a:prstGeom>
          <a:noFill/>
        </p:spPr>
        <p:txBody>
          <a:bodyPr wrap="square">
            <a:spAutoFit/>
          </a:bodyPr>
          <a:lstStyle/>
          <a:p>
            <a:pPr marL="285750" indent="-285750">
              <a:buFont typeface="Arial" panose="020B0604020202020204" pitchFamily="34" charset="0"/>
              <a:buChar char="•"/>
            </a:pPr>
            <a:r>
              <a:rPr lang="en-US" sz="1200" dirty="0"/>
              <a:t>We believe a capital allocation change would be most prudent for GameCo’s long term viability given the decline in overall sales. </a:t>
            </a:r>
          </a:p>
          <a:p>
            <a:endParaRPr lang="en-US" sz="1200" dirty="0"/>
          </a:p>
        </p:txBody>
      </p:sp>
      <p:pic>
        <p:nvPicPr>
          <p:cNvPr id="3" name="Picture 2">
            <a:extLst>
              <a:ext uri="{FF2B5EF4-FFF2-40B4-BE49-F238E27FC236}">
                <a16:creationId xmlns:a16="http://schemas.microsoft.com/office/drawing/2014/main" id="{9093C033-551F-0FFB-4D5D-FAAC62BB1DB5}"/>
              </a:ext>
            </a:extLst>
          </p:cNvPr>
          <p:cNvPicPr>
            <a:picLocks noChangeAspect="1"/>
          </p:cNvPicPr>
          <p:nvPr/>
        </p:nvPicPr>
        <p:blipFill>
          <a:blip r:embed="rId2"/>
          <a:stretch>
            <a:fillRect/>
          </a:stretch>
        </p:blipFill>
        <p:spPr>
          <a:xfrm>
            <a:off x="605378" y="1387129"/>
            <a:ext cx="4519142" cy="2675988"/>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78C71C03-845F-9966-72BF-3A74023643C4}"/>
              </a:ext>
            </a:extLst>
          </p:cNvPr>
          <p:cNvSpPr txBox="1"/>
          <p:nvPr/>
        </p:nvSpPr>
        <p:spPr>
          <a:xfrm>
            <a:off x="-213111" y="599982"/>
            <a:ext cx="6094674" cy="369332"/>
          </a:xfrm>
          <a:prstGeom prst="rect">
            <a:avLst/>
          </a:prstGeom>
          <a:noFill/>
        </p:spPr>
        <p:txBody>
          <a:bodyPr wrap="square">
            <a:spAutoFit/>
          </a:bodyPr>
          <a:lstStyle/>
          <a:p>
            <a:pPr algn="ctr" rtl="0">
              <a:defRPr lang="en-US" sz="1800" b="0" i="0" u="none" strike="noStrike" kern="1200" spc="0" baseline="0" dirty="0">
                <a:solidFill>
                  <a:prstClr val="white"/>
                </a:solidFill>
                <a:latin typeface="+mn-lt"/>
                <a:ea typeface="+mn-ea"/>
                <a:cs typeface="+mn-cs"/>
              </a:defRPr>
            </a:pPr>
            <a:r>
              <a:rPr lang="en-US" sz="1800" kern="1200" dirty="0">
                <a:solidFill>
                  <a:schemeClr val="tx1"/>
                </a:solidFill>
                <a:latin typeface="+mn-lt"/>
                <a:ea typeface="+mn-ea"/>
                <a:cs typeface="+mn-cs"/>
              </a:rPr>
              <a:t>Regional Sales Data</a:t>
            </a:r>
          </a:p>
        </p:txBody>
      </p:sp>
      <p:pic>
        <p:nvPicPr>
          <p:cNvPr id="11" name="Picture 10">
            <a:extLst>
              <a:ext uri="{FF2B5EF4-FFF2-40B4-BE49-F238E27FC236}">
                <a16:creationId xmlns:a16="http://schemas.microsoft.com/office/drawing/2014/main" id="{C74C964A-A9D4-ECEA-61C3-8A3B7569E62C}"/>
              </a:ext>
            </a:extLst>
          </p:cNvPr>
          <p:cNvPicPr>
            <a:picLocks noChangeAspect="1"/>
          </p:cNvPicPr>
          <p:nvPr/>
        </p:nvPicPr>
        <p:blipFill>
          <a:blip r:embed="rId3"/>
          <a:stretch>
            <a:fillRect/>
          </a:stretch>
        </p:blipFill>
        <p:spPr>
          <a:xfrm>
            <a:off x="6884429" y="1387129"/>
            <a:ext cx="4519142" cy="2746202"/>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20E66554-4448-055C-F2A0-9096D2A28493}"/>
              </a:ext>
            </a:extLst>
          </p:cNvPr>
          <p:cNvSpPr txBox="1"/>
          <p:nvPr/>
        </p:nvSpPr>
        <p:spPr>
          <a:xfrm>
            <a:off x="6043613" y="599982"/>
            <a:ext cx="6200774" cy="646331"/>
          </a:xfrm>
          <a:prstGeom prst="rect">
            <a:avLst/>
          </a:prstGeom>
          <a:noFill/>
        </p:spPr>
        <p:txBody>
          <a:bodyPr wrap="square">
            <a:spAutoFit/>
          </a:bodyPr>
          <a:lstStyle/>
          <a:p>
            <a:pPr algn="ctr" rtl="0">
              <a:defRPr sz="1400" b="0" i="0" u="none" strike="noStrike" kern="1200" spc="0" baseline="0">
                <a:solidFill>
                  <a:prstClr val="white"/>
                </a:solidFill>
                <a:latin typeface="+mn-lt"/>
                <a:ea typeface="+mn-ea"/>
                <a:cs typeface="+mn-cs"/>
              </a:defRPr>
            </a:pPr>
            <a:r>
              <a:rPr lang="en-US" sz="1800" dirty="0">
                <a:solidFill>
                  <a:schemeClr val="tx1"/>
                </a:solidFill>
              </a:rPr>
              <a:t>Regional</a:t>
            </a:r>
            <a:r>
              <a:rPr lang="en-US" sz="1800" baseline="0" dirty="0">
                <a:solidFill>
                  <a:schemeClr val="tx1"/>
                </a:solidFill>
              </a:rPr>
              <a:t> Market Share of Adventure, Action, Platform, Sports, Strategy, </a:t>
            </a:r>
            <a:r>
              <a:rPr lang="en-US" sz="1800" baseline="0" dirty="0" err="1">
                <a:solidFill>
                  <a:schemeClr val="tx1"/>
                </a:solidFill>
              </a:rPr>
              <a:t>Misc</a:t>
            </a:r>
            <a:r>
              <a:rPr lang="en-US" sz="1800" baseline="0" dirty="0">
                <a:solidFill>
                  <a:schemeClr val="tx1"/>
                </a:solidFill>
              </a:rPr>
              <a:t>, Fighting Genre’s </a:t>
            </a:r>
            <a:endParaRPr lang="en-US" sz="1800" dirty="0">
              <a:solidFill>
                <a:schemeClr val="tx1"/>
              </a:solidFill>
            </a:endParaRPr>
          </a:p>
        </p:txBody>
      </p:sp>
    </p:spTree>
    <p:extLst>
      <p:ext uri="{BB962C8B-B14F-4D97-AF65-F5344CB8AC3E}">
        <p14:creationId xmlns:p14="http://schemas.microsoft.com/office/powerpoint/2010/main" val="2467877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E07EE258-51AE-9A70-AC3E-E505BC66F417}"/>
              </a:ext>
            </a:extLst>
          </p:cNvPr>
          <p:cNvSpPr txBox="1"/>
          <p:nvPr/>
        </p:nvSpPr>
        <p:spPr>
          <a:xfrm>
            <a:off x="1222309" y="1763487"/>
            <a:ext cx="10655560" cy="4152122"/>
          </a:xfrm>
          <a:prstGeom prst="rect">
            <a:avLst/>
          </a:prstGeom>
          <a:noFill/>
        </p:spPr>
        <p:txBody>
          <a:bodyPr wrap="square">
            <a:spAutoFit/>
          </a:bodyPr>
          <a:lstStyle/>
          <a:p>
            <a:pPr marL="342900" indent="-342900">
              <a:buFont typeface="Courier New" panose="02070309020205020404" pitchFamily="49" charset="0"/>
              <a:buChar char="o"/>
            </a:pPr>
            <a:r>
              <a:rPr lang="en-US" sz="1600" dirty="0"/>
              <a:t>Allocate capital regionally  based on the region’s market share of global sales.</a:t>
            </a:r>
          </a:p>
          <a:p>
            <a:endParaRPr lang="en-US" sz="1600" dirty="0"/>
          </a:p>
          <a:p>
            <a:pPr marL="685800" lvl="1" indent="-228600">
              <a:buFont typeface="Courier New" panose="02070309020205020404" pitchFamily="49" charset="0"/>
              <a:buChar char="o"/>
            </a:pPr>
            <a:r>
              <a:rPr lang="en-US" sz="1200" dirty="0"/>
              <a:t>40% capital allocation to Europe, 35% capital allocation to North America, 15% capital allocation to Japan, the remaining 10% capital allocated to non major regions</a:t>
            </a:r>
          </a:p>
          <a:p>
            <a:pPr lvl="1"/>
            <a:endParaRPr lang="en-US" sz="1200" dirty="0"/>
          </a:p>
          <a:p>
            <a:pPr marL="685800" lvl="1" indent="-228600">
              <a:buFont typeface="Courier New" panose="02070309020205020404" pitchFamily="49" charset="0"/>
              <a:buChar char="o"/>
            </a:pPr>
            <a:r>
              <a:rPr lang="en-US" sz="1200" dirty="0"/>
              <a:t>Review the capital allocation yearly and adjust according to the regions market share of global sales. </a:t>
            </a:r>
          </a:p>
          <a:p>
            <a:pPr lvl="1"/>
            <a:endParaRPr lang="en-US" sz="1200" dirty="0"/>
          </a:p>
          <a:p>
            <a:pPr marL="342900" indent="-342900">
              <a:buFont typeface="Courier New" panose="02070309020205020404" pitchFamily="49" charset="0"/>
              <a:buChar char="o"/>
            </a:pPr>
            <a:r>
              <a:rPr lang="en-US" sz="1600" dirty="0"/>
              <a:t>Each region should then allocate the capital its given based on trends, and allocate more capital to genres growing in market share</a:t>
            </a:r>
          </a:p>
          <a:p>
            <a:pPr marL="342900" indent="-342900">
              <a:buFont typeface="Courier New" panose="02070309020205020404" pitchFamily="49" charset="0"/>
              <a:buChar char="o"/>
            </a:pPr>
            <a:endParaRPr lang="en-US" sz="1600" dirty="0"/>
          </a:p>
          <a:p>
            <a:pPr marL="685800" lvl="1" indent="-228600">
              <a:buFont typeface="Courier New" panose="02070309020205020404" pitchFamily="49" charset="0"/>
              <a:buChar char="o"/>
            </a:pPr>
            <a:r>
              <a:rPr lang="en-US" sz="1200" dirty="0"/>
              <a:t>Europe – Increase allocation to </a:t>
            </a:r>
            <a:r>
              <a:rPr lang="en-US" sz="1200" baseline="0" dirty="0"/>
              <a:t>Adventure, Action, Platform, Sports, Strategy, Misc, Fighting Genre’s </a:t>
            </a:r>
          </a:p>
          <a:p>
            <a:pPr lvl="1"/>
            <a:endParaRPr lang="en-US" sz="1200" baseline="0" dirty="0"/>
          </a:p>
          <a:p>
            <a:pPr marL="685800" lvl="1" indent="-228600">
              <a:buFont typeface="Courier New" panose="02070309020205020404" pitchFamily="49" charset="0"/>
              <a:buChar char="o"/>
            </a:pPr>
            <a:r>
              <a:rPr lang="en-US" sz="1200" dirty="0"/>
              <a:t>Japan – Increase capital allocation to Role Playing and Strategy games – Decrease allocation action, shooter &amp; racing genres</a:t>
            </a:r>
          </a:p>
          <a:p>
            <a:pPr lvl="1"/>
            <a:endParaRPr lang="en-US" sz="1200" dirty="0"/>
          </a:p>
          <a:p>
            <a:pPr marL="685800" lvl="1" indent="-228600">
              <a:buFont typeface="Courier New" panose="02070309020205020404" pitchFamily="49" charset="0"/>
              <a:buChar char="o"/>
            </a:pPr>
            <a:r>
              <a:rPr lang="en-US" sz="1200" dirty="0"/>
              <a:t>North America – Understand that market share is declining but still has strong correlation to overall global sales so keep reinvesting in its strongest genres such as Action, Adventure, platform, Sports, Strategy, Mics, Fighting but reduce allocation to Role Playing as Japan is clearly gaining a larger market share year over year. </a:t>
            </a:r>
          </a:p>
          <a:p>
            <a:pPr marL="285750" indent="-285750">
              <a:buFont typeface="Courier New" panose="02070309020205020404" pitchFamily="49" charset="0"/>
              <a:buChar char="o"/>
            </a:pPr>
            <a:endParaRPr lang="en-US" sz="1400" dirty="0"/>
          </a:p>
          <a:p>
            <a:pPr marL="285750" indent="-285750">
              <a:buFont typeface="Courier New" panose="02070309020205020404" pitchFamily="49" charset="0"/>
              <a:buChar char="o"/>
            </a:pPr>
            <a:endParaRPr lang="en-US" sz="1400" dirty="0"/>
          </a:p>
          <a:p>
            <a:pPr marL="285750" indent="-285750">
              <a:buFont typeface="Courier New" panose="02070309020205020404" pitchFamily="49" charset="0"/>
              <a:buChar char="o"/>
            </a:pPr>
            <a:endParaRPr lang="en-US" sz="1400" dirty="0"/>
          </a:p>
        </p:txBody>
      </p:sp>
      <p:sp>
        <p:nvSpPr>
          <p:cNvPr id="37" name="TextBox 36">
            <a:extLst>
              <a:ext uri="{FF2B5EF4-FFF2-40B4-BE49-F238E27FC236}">
                <a16:creationId xmlns:a16="http://schemas.microsoft.com/office/drawing/2014/main" id="{D97B64A0-8128-E9EE-CC28-124FB6A1C808}"/>
              </a:ext>
            </a:extLst>
          </p:cNvPr>
          <p:cNvSpPr txBox="1"/>
          <p:nvPr/>
        </p:nvSpPr>
        <p:spPr>
          <a:xfrm>
            <a:off x="3403341" y="823040"/>
            <a:ext cx="6097554" cy="369332"/>
          </a:xfrm>
          <a:prstGeom prst="rect">
            <a:avLst/>
          </a:prstGeom>
          <a:noFill/>
        </p:spPr>
        <p:txBody>
          <a:bodyPr wrap="square">
            <a:spAutoFit/>
          </a:bodyPr>
          <a:lstStyle/>
          <a:p>
            <a:r>
              <a:rPr lang="en-US" sz="1800" dirty="0"/>
              <a:t>Recommendations to Gameco.</a:t>
            </a:r>
          </a:p>
        </p:txBody>
      </p:sp>
    </p:spTree>
    <p:extLst>
      <p:ext uri="{BB962C8B-B14F-4D97-AF65-F5344CB8AC3E}">
        <p14:creationId xmlns:p14="http://schemas.microsoft.com/office/powerpoint/2010/main" val="2121178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61507" y="-296862"/>
            <a:ext cx="5216738" cy="1396989"/>
          </a:xfrm>
        </p:spPr>
        <p:txBody>
          <a:bodyPr>
            <a:normAutofit/>
          </a:bodyPr>
          <a:lstStyle/>
          <a:p>
            <a:r>
              <a:rPr lang="en-US" dirty="0"/>
              <a:t>Hospital Staffing Agency </a:t>
            </a:r>
            <a:endParaRPr lang="en-ZA" dirty="0"/>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240165" y="1253541"/>
            <a:ext cx="7202854" cy="1146890"/>
          </a:xfrm>
        </p:spPr>
        <p:txBody>
          <a:bodyPr>
            <a:normAutofit fontScale="85000" lnSpcReduction="20000"/>
          </a:bodyPr>
          <a:lstStyle/>
          <a:p>
            <a:r>
              <a:rPr lang="en-US" dirty="0">
                <a:solidFill>
                  <a:schemeClr val="tx1"/>
                </a:solidFill>
              </a:rPr>
              <a:t>Objective: </a:t>
            </a:r>
          </a:p>
          <a:p>
            <a:r>
              <a:rPr lang="en-US" dirty="0"/>
              <a:t>To help a medical staffing agency that provides temporary workers to clinics and hospitals on an as-needed basis. The analysis will help plan for influenza season, a time when additional staff are in high demand. The final results will examine trends in influenza and how they can be used to proactively plan for staffing needs across the country.</a:t>
            </a:r>
            <a:endParaRPr lang="en-US" dirty="0">
              <a:solidFill>
                <a:schemeClr val="tx1"/>
              </a:solidFill>
            </a:endParaRP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ZA" smtClean="0"/>
              <a:pPr/>
              <a:t>7</a:t>
            </a:fld>
            <a:endParaRPr lang="en-ZA" dirty="0"/>
          </a:p>
        </p:txBody>
      </p:sp>
      <p:sp>
        <p:nvSpPr>
          <p:cNvPr id="8" name="TextBox 7">
            <a:extLst>
              <a:ext uri="{FF2B5EF4-FFF2-40B4-BE49-F238E27FC236}">
                <a16:creationId xmlns:a16="http://schemas.microsoft.com/office/drawing/2014/main" id="{126F4026-9D92-D311-6DDE-28138B8B4D62}"/>
              </a:ext>
            </a:extLst>
          </p:cNvPr>
          <p:cNvSpPr txBox="1"/>
          <p:nvPr/>
        </p:nvSpPr>
        <p:spPr>
          <a:xfrm>
            <a:off x="240165" y="2732219"/>
            <a:ext cx="6095999" cy="1938992"/>
          </a:xfrm>
          <a:prstGeom prst="rect">
            <a:avLst/>
          </a:prstGeom>
          <a:noFill/>
        </p:spPr>
        <p:txBody>
          <a:bodyPr wrap="square">
            <a:spAutoFit/>
          </a:bodyPr>
          <a:lstStyle/>
          <a:p>
            <a:r>
              <a:rPr lang="en-US" sz="1200" dirty="0">
                <a:solidFill>
                  <a:schemeClr val="tx1">
                    <a:lumMod val="75000"/>
                    <a:lumOff val="25000"/>
                  </a:schemeClr>
                </a:solidFill>
              </a:rPr>
              <a:t>Dataset:</a:t>
            </a:r>
          </a:p>
          <a:p>
            <a:r>
              <a:rPr lang="en-US" sz="1200" dirty="0"/>
              <a:t>Influenza deaths by geography, time, age, and gender </a:t>
            </a:r>
          </a:p>
          <a:p>
            <a:r>
              <a:rPr lang="en-US" sz="1200" dirty="0"/>
              <a:t>Source: </a:t>
            </a:r>
            <a:r>
              <a:rPr lang="en-US" sz="1200" dirty="0">
                <a:hlinkClick r:id="rId2">
                  <a:extLst>
                    <a:ext uri="{A12FA001-AC4F-418D-AE19-62706E023703}">
                      <ahyp:hlinkClr xmlns:ahyp="http://schemas.microsoft.com/office/drawing/2018/hyperlinkcolor" val="tx"/>
                    </a:ext>
                  </a:extLst>
                </a:hlinkClick>
              </a:rPr>
              <a:t>CDC</a:t>
            </a:r>
            <a:endParaRPr lang="en-US" sz="1200" dirty="0"/>
          </a:p>
          <a:p>
            <a:r>
              <a:rPr lang="en-US" sz="1200" dirty="0">
                <a:hlinkClick r:id="rId3">
                  <a:extLst>
                    <a:ext uri="{A12FA001-AC4F-418D-AE19-62706E023703}">
                      <ahyp:hlinkClr xmlns:ahyp="http://schemas.microsoft.com/office/drawing/2018/hyperlinkcolor" val="tx"/>
                    </a:ext>
                  </a:extLst>
                </a:hlinkClick>
              </a:rPr>
              <a:t>Download Data Set</a:t>
            </a:r>
            <a:endParaRPr lang="en-US" sz="1200" dirty="0"/>
          </a:p>
          <a:p>
            <a:endParaRPr lang="en-US" sz="1200" dirty="0"/>
          </a:p>
          <a:p>
            <a:r>
              <a:rPr lang="en-US" sz="1200" dirty="0"/>
              <a:t>2. Population data by geography </a:t>
            </a:r>
          </a:p>
          <a:p>
            <a:r>
              <a:rPr lang="en-US" sz="1200" dirty="0"/>
              <a:t>Source: US Census Bureau </a:t>
            </a:r>
          </a:p>
          <a:p>
            <a:r>
              <a:rPr lang="en-US" sz="1200" dirty="0">
                <a:hlinkClick r:id="rId4">
                  <a:extLst>
                    <a:ext uri="{A12FA001-AC4F-418D-AE19-62706E023703}">
                      <ahyp:hlinkClr xmlns:ahyp="http://schemas.microsoft.com/office/drawing/2018/hyperlinkcolor" val="tx"/>
                    </a:ext>
                  </a:extLst>
                </a:hlinkClick>
              </a:rPr>
              <a:t>Download Data Set</a:t>
            </a:r>
            <a:endParaRPr lang="en-US" sz="1200" dirty="0"/>
          </a:p>
          <a:p>
            <a:endParaRPr lang="en-US" sz="1200" dirty="0">
              <a:solidFill>
                <a:schemeClr val="tx1">
                  <a:lumMod val="75000"/>
                  <a:lumOff val="25000"/>
                </a:schemeClr>
              </a:solidFill>
            </a:endParaRPr>
          </a:p>
          <a:p>
            <a:endParaRPr lang="en-US" sz="1200" dirty="0">
              <a:solidFill>
                <a:schemeClr val="tx1">
                  <a:lumMod val="75000"/>
                  <a:lumOff val="25000"/>
                </a:schemeClr>
              </a:solidFill>
            </a:endParaRPr>
          </a:p>
        </p:txBody>
      </p:sp>
      <p:sp>
        <p:nvSpPr>
          <p:cNvPr id="10" name="TextBox 9">
            <a:extLst>
              <a:ext uri="{FF2B5EF4-FFF2-40B4-BE49-F238E27FC236}">
                <a16:creationId xmlns:a16="http://schemas.microsoft.com/office/drawing/2014/main" id="{6205E42C-3885-622D-6A72-412106523FF4}"/>
              </a:ext>
            </a:extLst>
          </p:cNvPr>
          <p:cNvSpPr txBox="1"/>
          <p:nvPr/>
        </p:nvSpPr>
        <p:spPr>
          <a:xfrm>
            <a:off x="240164" y="4482816"/>
            <a:ext cx="6096000" cy="1938992"/>
          </a:xfrm>
          <a:prstGeom prst="rect">
            <a:avLst/>
          </a:prstGeom>
          <a:noFill/>
        </p:spPr>
        <p:txBody>
          <a:bodyPr wrap="square">
            <a:spAutoFit/>
          </a:bodyPr>
          <a:lstStyle/>
          <a:p>
            <a:r>
              <a:rPr lang="en-US" sz="1200" dirty="0">
                <a:solidFill>
                  <a:schemeClr val="tx1">
                    <a:lumMod val="75000"/>
                    <a:lumOff val="25000"/>
                  </a:schemeClr>
                </a:solidFill>
              </a:rPr>
              <a:t>Skills Used:</a:t>
            </a:r>
          </a:p>
          <a:p>
            <a:pPr marL="285750" indent="-285750">
              <a:buFont typeface="Arial" panose="020B0604020202020204" pitchFamily="34" charset="0"/>
              <a:buChar char="•"/>
            </a:pPr>
            <a:r>
              <a:rPr lang="en-US" sz="1200" dirty="0">
                <a:solidFill>
                  <a:schemeClr val="tx1">
                    <a:lumMod val="75000"/>
                    <a:lumOff val="25000"/>
                  </a:schemeClr>
                </a:solidFill>
              </a:rPr>
              <a:t>Translating Business Requirements</a:t>
            </a:r>
          </a:p>
          <a:p>
            <a:pPr marL="285750" indent="-285750">
              <a:buFont typeface="Arial" panose="020B0604020202020204" pitchFamily="34" charset="0"/>
              <a:buChar char="•"/>
            </a:pPr>
            <a:r>
              <a:rPr lang="en-US" sz="1200" dirty="0">
                <a:solidFill>
                  <a:schemeClr val="tx1">
                    <a:lumMod val="75000"/>
                    <a:lumOff val="25000"/>
                  </a:schemeClr>
                </a:solidFill>
              </a:rPr>
              <a:t>Data Cleaning</a:t>
            </a:r>
          </a:p>
          <a:p>
            <a:pPr marL="285750" indent="-285750">
              <a:buFont typeface="Arial" panose="020B0604020202020204" pitchFamily="34" charset="0"/>
              <a:buChar char="•"/>
            </a:pPr>
            <a:r>
              <a:rPr lang="en-US" sz="1200" dirty="0">
                <a:solidFill>
                  <a:schemeClr val="tx1">
                    <a:lumMod val="75000"/>
                    <a:lumOff val="25000"/>
                  </a:schemeClr>
                </a:solidFill>
              </a:rPr>
              <a:t>Data Integration </a:t>
            </a:r>
          </a:p>
          <a:p>
            <a:pPr marL="285750" indent="-285750">
              <a:buFont typeface="Arial" panose="020B0604020202020204" pitchFamily="34" charset="0"/>
              <a:buChar char="•"/>
            </a:pPr>
            <a:r>
              <a:rPr lang="en-US" sz="1200" dirty="0">
                <a:solidFill>
                  <a:schemeClr val="tx1">
                    <a:lumMod val="75000"/>
                    <a:lumOff val="25000"/>
                  </a:schemeClr>
                </a:solidFill>
              </a:rPr>
              <a:t>Statistical Hypothesis Testing</a:t>
            </a:r>
          </a:p>
          <a:p>
            <a:pPr marL="285750" indent="-285750">
              <a:buFont typeface="Arial" panose="020B0604020202020204" pitchFamily="34" charset="0"/>
              <a:buChar char="•"/>
            </a:pPr>
            <a:r>
              <a:rPr lang="en-US" sz="1200" dirty="0">
                <a:solidFill>
                  <a:schemeClr val="tx1">
                    <a:lumMod val="75000"/>
                    <a:lumOff val="25000"/>
                  </a:schemeClr>
                </a:solidFill>
              </a:rPr>
              <a:t>Visual Analysis</a:t>
            </a:r>
          </a:p>
          <a:p>
            <a:pPr marL="285750" indent="-285750">
              <a:buFont typeface="Arial" panose="020B0604020202020204" pitchFamily="34" charset="0"/>
              <a:buChar char="•"/>
            </a:pPr>
            <a:r>
              <a:rPr lang="en-US" sz="1200" dirty="0">
                <a:solidFill>
                  <a:schemeClr val="tx1">
                    <a:lumMod val="75000"/>
                    <a:lumOff val="25000"/>
                  </a:schemeClr>
                </a:solidFill>
              </a:rPr>
              <a:t>Forecasting</a:t>
            </a:r>
          </a:p>
          <a:p>
            <a:pPr marL="285750" indent="-285750">
              <a:buFont typeface="Arial" panose="020B0604020202020204" pitchFamily="34" charset="0"/>
              <a:buChar char="•"/>
            </a:pPr>
            <a:r>
              <a:rPr lang="en-US" sz="1200" dirty="0">
                <a:solidFill>
                  <a:schemeClr val="tx1">
                    <a:lumMod val="75000"/>
                    <a:lumOff val="25000"/>
                  </a:schemeClr>
                </a:solidFill>
              </a:rPr>
              <a:t>Dashboard Design</a:t>
            </a:r>
          </a:p>
          <a:p>
            <a:pPr marL="285750" indent="-285750">
              <a:buFont typeface="Arial" panose="020B0604020202020204" pitchFamily="34" charset="0"/>
              <a:buChar char="•"/>
            </a:pPr>
            <a:r>
              <a:rPr lang="en-US" sz="1200" dirty="0">
                <a:solidFill>
                  <a:schemeClr val="tx1">
                    <a:lumMod val="75000"/>
                    <a:lumOff val="25000"/>
                  </a:schemeClr>
                </a:solidFill>
              </a:rPr>
              <a:t>Video Presentation</a:t>
            </a:r>
          </a:p>
          <a:p>
            <a:endParaRPr lang="en-US" sz="1200" dirty="0">
              <a:solidFill>
                <a:schemeClr val="tx1">
                  <a:lumMod val="75000"/>
                  <a:lumOff val="25000"/>
                </a:schemeClr>
              </a:solidFill>
            </a:endParaRPr>
          </a:p>
        </p:txBody>
      </p:sp>
      <p:sp>
        <p:nvSpPr>
          <p:cNvPr id="14" name="TextBox 13">
            <a:extLst>
              <a:ext uri="{FF2B5EF4-FFF2-40B4-BE49-F238E27FC236}">
                <a16:creationId xmlns:a16="http://schemas.microsoft.com/office/drawing/2014/main" id="{83BDB46B-699D-E6F8-165B-3E67539CDBDB}"/>
              </a:ext>
            </a:extLst>
          </p:cNvPr>
          <p:cNvSpPr txBox="1"/>
          <p:nvPr/>
        </p:nvSpPr>
        <p:spPr>
          <a:xfrm>
            <a:off x="4473392" y="2826409"/>
            <a:ext cx="1317808" cy="646331"/>
          </a:xfrm>
          <a:prstGeom prst="rect">
            <a:avLst/>
          </a:prstGeom>
          <a:noFill/>
        </p:spPr>
        <p:txBody>
          <a:bodyPr wrap="square">
            <a:spAutoFit/>
          </a:bodyPr>
          <a:lstStyle/>
          <a:p>
            <a:r>
              <a:rPr lang="en-US" sz="1200" dirty="0">
                <a:solidFill>
                  <a:schemeClr val="tx1">
                    <a:lumMod val="75000"/>
                    <a:lumOff val="25000"/>
                  </a:schemeClr>
                </a:solidFill>
              </a:rPr>
              <a:t>Tools Used:</a:t>
            </a:r>
          </a:p>
          <a:p>
            <a:endParaRPr lang="en-US" sz="1200" dirty="0">
              <a:solidFill>
                <a:schemeClr val="tx1">
                  <a:lumMod val="75000"/>
                  <a:lumOff val="25000"/>
                </a:schemeClr>
              </a:solidFill>
            </a:endParaRPr>
          </a:p>
          <a:p>
            <a:endParaRPr lang="en-US" sz="1200" dirty="0">
              <a:solidFill>
                <a:schemeClr val="tx1">
                  <a:lumMod val="75000"/>
                  <a:lumOff val="25000"/>
                </a:schemeClr>
              </a:solidFill>
            </a:endParaRPr>
          </a:p>
        </p:txBody>
      </p:sp>
      <p:pic>
        <p:nvPicPr>
          <p:cNvPr id="18" name="Picture 17">
            <a:extLst>
              <a:ext uri="{FF2B5EF4-FFF2-40B4-BE49-F238E27FC236}">
                <a16:creationId xmlns:a16="http://schemas.microsoft.com/office/drawing/2014/main" id="{638264EC-E90B-A5F7-EF25-9A7AF0EEA3FB}"/>
              </a:ext>
            </a:extLst>
          </p:cNvPr>
          <p:cNvPicPr>
            <a:picLocks noChangeAspect="1"/>
          </p:cNvPicPr>
          <p:nvPr/>
        </p:nvPicPr>
        <p:blipFill>
          <a:blip r:embed="rId5"/>
          <a:stretch>
            <a:fillRect/>
          </a:stretch>
        </p:blipFill>
        <p:spPr>
          <a:xfrm>
            <a:off x="4473392" y="3393718"/>
            <a:ext cx="783309" cy="482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5">
            <a:extLst>
              <a:ext uri="{FF2B5EF4-FFF2-40B4-BE49-F238E27FC236}">
                <a16:creationId xmlns:a16="http://schemas.microsoft.com/office/drawing/2014/main" id="{FA62882F-9DDE-8B54-0BA7-7019BA886420}"/>
              </a:ext>
            </a:extLst>
          </p:cNvPr>
          <p:cNvPicPr>
            <a:picLocks noChangeAspect="1"/>
          </p:cNvPicPr>
          <p:nvPr/>
        </p:nvPicPr>
        <p:blipFill>
          <a:blip r:embed="rId6"/>
          <a:stretch>
            <a:fillRect/>
          </a:stretch>
        </p:blipFill>
        <p:spPr>
          <a:xfrm>
            <a:off x="5588639" y="3376323"/>
            <a:ext cx="783309" cy="5061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988544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6D952B-BE61-01DC-F38B-3C1EC5893528}"/>
              </a:ext>
            </a:extLst>
          </p:cNvPr>
          <p:cNvPicPr>
            <a:picLocks noChangeAspect="1"/>
          </p:cNvPicPr>
          <p:nvPr/>
        </p:nvPicPr>
        <p:blipFill>
          <a:blip r:embed="rId2"/>
          <a:stretch>
            <a:fillRect/>
          </a:stretch>
        </p:blipFill>
        <p:spPr>
          <a:xfrm>
            <a:off x="5905846" y="983224"/>
            <a:ext cx="5790767" cy="3618273"/>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DE9D61DC-2635-D091-46DA-B2B6DA8E0AC5}"/>
              </a:ext>
            </a:extLst>
          </p:cNvPr>
          <p:cNvPicPr>
            <a:picLocks noChangeAspect="1"/>
          </p:cNvPicPr>
          <p:nvPr/>
        </p:nvPicPr>
        <p:blipFill>
          <a:blip r:embed="rId3"/>
          <a:stretch>
            <a:fillRect/>
          </a:stretch>
        </p:blipFill>
        <p:spPr>
          <a:xfrm>
            <a:off x="196644" y="3205316"/>
            <a:ext cx="5615921" cy="3409860"/>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7EA475E8-56C6-8321-4ABA-C09AE5F7C29B}"/>
              </a:ext>
            </a:extLst>
          </p:cNvPr>
          <p:cNvSpPr txBox="1"/>
          <p:nvPr/>
        </p:nvSpPr>
        <p:spPr>
          <a:xfrm>
            <a:off x="6023832" y="380475"/>
            <a:ext cx="6096000" cy="369332"/>
          </a:xfrm>
          <a:prstGeom prst="rect">
            <a:avLst/>
          </a:prstGeom>
          <a:noFill/>
        </p:spPr>
        <p:txBody>
          <a:bodyPr wrap="square">
            <a:spAutoFit/>
          </a:bodyPr>
          <a:lstStyle/>
          <a:p>
            <a:r>
              <a:rPr lang="en-US" dirty="0"/>
              <a:t>When is the Influenza Season? </a:t>
            </a:r>
            <a:endParaRPr lang="en-US" sz="1800" dirty="0"/>
          </a:p>
        </p:txBody>
      </p:sp>
      <p:sp>
        <p:nvSpPr>
          <p:cNvPr id="13" name="TextBox 12">
            <a:extLst>
              <a:ext uri="{FF2B5EF4-FFF2-40B4-BE49-F238E27FC236}">
                <a16:creationId xmlns:a16="http://schemas.microsoft.com/office/drawing/2014/main" id="{F0FB0CD8-6291-7BF5-686B-E71BBE8A7691}"/>
              </a:ext>
            </a:extLst>
          </p:cNvPr>
          <p:cNvSpPr txBox="1"/>
          <p:nvPr/>
        </p:nvSpPr>
        <p:spPr>
          <a:xfrm>
            <a:off x="383458" y="2723533"/>
            <a:ext cx="6096000" cy="369332"/>
          </a:xfrm>
          <a:prstGeom prst="rect">
            <a:avLst/>
          </a:prstGeom>
          <a:noFill/>
        </p:spPr>
        <p:txBody>
          <a:bodyPr wrap="square">
            <a:spAutoFit/>
          </a:bodyPr>
          <a:lstStyle/>
          <a:p>
            <a:r>
              <a:rPr lang="en-US" sz="1800" dirty="0"/>
              <a:t>Does geography play a role in Influenza deaths? </a:t>
            </a:r>
          </a:p>
        </p:txBody>
      </p:sp>
    </p:spTree>
    <p:extLst>
      <p:ext uri="{BB962C8B-B14F-4D97-AF65-F5344CB8AC3E}">
        <p14:creationId xmlns:p14="http://schemas.microsoft.com/office/powerpoint/2010/main" val="217599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6944E4C-9E3A-D5C5-F638-AC8DCAB4C134}"/>
              </a:ext>
            </a:extLst>
          </p:cNvPr>
          <p:cNvPicPr>
            <a:picLocks noChangeAspect="1"/>
          </p:cNvPicPr>
          <p:nvPr/>
        </p:nvPicPr>
        <p:blipFill>
          <a:blip r:embed="rId2"/>
          <a:stretch>
            <a:fillRect/>
          </a:stretch>
        </p:blipFill>
        <p:spPr>
          <a:xfrm>
            <a:off x="1230946" y="1336666"/>
            <a:ext cx="9053596" cy="5336881"/>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472450F4-4931-CE0D-564C-2985937E0DC6}"/>
              </a:ext>
            </a:extLst>
          </p:cNvPr>
          <p:cNvSpPr txBox="1"/>
          <p:nvPr/>
        </p:nvSpPr>
        <p:spPr>
          <a:xfrm>
            <a:off x="3048000" y="658762"/>
            <a:ext cx="6096000" cy="369332"/>
          </a:xfrm>
          <a:prstGeom prst="rect">
            <a:avLst/>
          </a:prstGeom>
          <a:noFill/>
        </p:spPr>
        <p:txBody>
          <a:bodyPr wrap="square">
            <a:spAutoFit/>
          </a:bodyPr>
          <a:lstStyle/>
          <a:p>
            <a:r>
              <a:rPr lang="en-US" sz="1800" dirty="0"/>
              <a:t>Does density play a role in Influenza death? </a:t>
            </a:r>
          </a:p>
        </p:txBody>
      </p:sp>
    </p:spTree>
    <p:extLst>
      <p:ext uri="{BB962C8B-B14F-4D97-AF65-F5344CB8AC3E}">
        <p14:creationId xmlns:p14="http://schemas.microsoft.com/office/powerpoint/2010/main" val="1162677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2A2161AF-980B-1512-19CB-AAD8B26F292C}"/>
              </a:ext>
            </a:extLst>
          </p:cNvPr>
          <p:cNvSpPr txBox="1"/>
          <p:nvPr/>
        </p:nvSpPr>
        <p:spPr>
          <a:xfrm>
            <a:off x="6322141" y="966787"/>
            <a:ext cx="5604387" cy="5278368"/>
          </a:xfrm>
          <a:prstGeom prst="rect">
            <a:avLst/>
          </a:prstGeom>
          <a:noFill/>
        </p:spPr>
        <p:txBody>
          <a:bodyPr wrap="square">
            <a:spAutoFit/>
          </a:bodyPr>
          <a:lstStyle/>
          <a:p>
            <a:pPr algn="ctr"/>
            <a:r>
              <a:rPr lang="en-US" dirty="0"/>
              <a:t>Recommendations</a:t>
            </a:r>
            <a:r>
              <a:rPr lang="en-US" sz="1100" dirty="0"/>
              <a:t>: </a:t>
            </a:r>
          </a:p>
          <a:p>
            <a:endParaRPr lang="en-US" sz="1100" dirty="0"/>
          </a:p>
          <a:p>
            <a:pPr marL="342900" indent="-342900">
              <a:buFont typeface="+mj-lt"/>
              <a:buAutoNum type="arabicPeriod"/>
            </a:pPr>
            <a:r>
              <a:rPr lang="en-US" sz="1400" dirty="0"/>
              <a:t>We should staff hospitals based on the region’s percentage of Influenza deaths. </a:t>
            </a:r>
          </a:p>
          <a:p>
            <a:pPr marL="342900" indent="-342900">
              <a:buFont typeface="+mj-lt"/>
              <a:buAutoNum type="arabicPeriod"/>
            </a:pPr>
            <a:r>
              <a:rPr lang="en-US" sz="1400" dirty="0"/>
              <a:t>Prioritize "Hot Spot" states with additional resources or staffing. We will pull those resources from the region with the lowest density of vulnerable population and lowest overall death count. This region is </a:t>
            </a:r>
            <a:r>
              <a:rPr lang="en-US" sz="1200" dirty="0"/>
              <a:t>the</a:t>
            </a:r>
            <a:r>
              <a:rPr lang="en-US" sz="1400" dirty="0"/>
              <a:t> Northwest Region. We will allocate the 5% of staffing resources for Influenza in the Northwest Region and allocate that to "Hot Spot" states.</a:t>
            </a:r>
          </a:p>
          <a:p>
            <a:endParaRPr lang="en-US" sz="1400" b="1" dirty="0">
              <a:latin typeface="Tableau Book"/>
            </a:endParaRPr>
          </a:p>
          <a:p>
            <a:endParaRPr lang="en-US" sz="1400" b="1" dirty="0">
              <a:latin typeface="Tableau Book"/>
            </a:endParaRPr>
          </a:p>
          <a:p>
            <a:r>
              <a:rPr lang="en-US" sz="1400" b="1" dirty="0">
                <a:latin typeface="Tableau Book"/>
              </a:rPr>
              <a:t>Links: </a:t>
            </a:r>
          </a:p>
          <a:p>
            <a:endParaRPr lang="en-US" sz="1400" b="1" dirty="0">
              <a:latin typeface="Tableau Book"/>
            </a:endParaRPr>
          </a:p>
          <a:p>
            <a:r>
              <a:rPr lang="en-US" sz="1400" b="1" dirty="0">
                <a:latin typeface="Tableau Book"/>
              </a:rPr>
              <a:t>Full Video Presentation: </a:t>
            </a:r>
          </a:p>
          <a:p>
            <a:r>
              <a:rPr lang="en-US" sz="1400" dirty="0">
                <a:hlinkClick r:id="rId2">
                  <a:extLst>
                    <a:ext uri="{A12FA001-AC4F-418D-AE19-62706E023703}">
                      <ahyp:hlinkClr xmlns:ahyp="http://schemas.microsoft.com/office/drawing/2018/hyperlinkcolor" val="tx"/>
                    </a:ext>
                  </a:extLst>
                </a:hlinkClick>
              </a:rPr>
              <a:t>Hospital Staffing Recommendations for Upcoming Influenza Season – YouTube</a:t>
            </a:r>
            <a:endParaRPr lang="en-US" sz="1400" b="1" dirty="0">
              <a:latin typeface="Tableau Book"/>
            </a:endParaRPr>
          </a:p>
          <a:p>
            <a:endParaRPr lang="en-US" sz="1400" b="1" dirty="0">
              <a:latin typeface="Tableau Book"/>
            </a:endParaRPr>
          </a:p>
          <a:p>
            <a:r>
              <a:rPr lang="en-US" sz="1400" b="1" dirty="0">
                <a:latin typeface="Tableau Book"/>
              </a:rPr>
              <a:t>Full Story Board on Tableau: </a:t>
            </a:r>
          </a:p>
          <a:p>
            <a:endParaRPr lang="en-US" sz="1400" b="1" dirty="0">
              <a:latin typeface="Tableau Book"/>
            </a:endParaRPr>
          </a:p>
          <a:p>
            <a:r>
              <a:rPr lang="en-US" sz="1400" dirty="0">
                <a:hlinkClick r:id="rId3">
                  <a:extLst>
                    <a:ext uri="{A12FA001-AC4F-418D-AE19-62706E023703}">
                      <ahyp:hlinkClr xmlns:ahyp="http://schemas.microsoft.com/office/drawing/2018/hyperlinkcolor" val="tx"/>
                    </a:ext>
                  </a:extLst>
                </a:hlinkClick>
              </a:rPr>
              <a:t>Hospital Staffing Agency Recommendations for Influenza Season | Tableau Public</a:t>
            </a:r>
            <a:endParaRPr lang="en-US" sz="1400" b="1" dirty="0">
              <a:latin typeface="Tableau Book"/>
            </a:endParaRPr>
          </a:p>
          <a:p>
            <a:endParaRPr lang="en-US" sz="1400" b="1" dirty="0">
              <a:effectLst/>
              <a:latin typeface="Tableau Book"/>
            </a:endParaRPr>
          </a:p>
          <a:p>
            <a:r>
              <a:rPr lang="en-US" sz="1400" dirty="0">
                <a:effectLst/>
                <a:latin typeface="Tableau Book"/>
              </a:rPr>
              <a:t> </a:t>
            </a:r>
            <a:endParaRPr lang="en-US" sz="1400" dirty="0"/>
          </a:p>
        </p:txBody>
      </p:sp>
      <p:pic>
        <p:nvPicPr>
          <p:cNvPr id="27" name="Picture 26">
            <a:extLst>
              <a:ext uri="{FF2B5EF4-FFF2-40B4-BE49-F238E27FC236}">
                <a16:creationId xmlns:a16="http://schemas.microsoft.com/office/drawing/2014/main" id="{CB081829-876C-1ED5-CF09-64990BBE8733}"/>
              </a:ext>
            </a:extLst>
          </p:cNvPr>
          <p:cNvPicPr>
            <a:picLocks noChangeAspect="1"/>
          </p:cNvPicPr>
          <p:nvPr/>
        </p:nvPicPr>
        <p:blipFill>
          <a:blip r:embed="rId4"/>
          <a:stretch>
            <a:fillRect/>
          </a:stretch>
        </p:blipFill>
        <p:spPr>
          <a:xfrm>
            <a:off x="304801" y="324184"/>
            <a:ext cx="5907274" cy="3033936"/>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pic>
        <p:nvPicPr>
          <p:cNvPr id="28" name="Picture 27">
            <a:extLst>
              <a:ext uri="{FF2B5EF4-FFF2-40B4-BE49-F238E27FC236}">
                <a16:creationId xmlns:a16="http://schemas.microsoft.com/office/drawing/2014/main" id="{F1E3FC9E-9F3F-CB63-9944-E00C16A31517}"/>
              </a:ext>
            </a:extLst>
          </p:cNvPr>
          <p:cNvPicPr>
            <a:picLocks noChangeAspect="1"/>
          </p:cNvPicPr>
          <p:nvPr/>
        </p:nvPicPr>
        <p:blipFill>
          <a:blip r:embed="rId5"/>
          <a:stretch>
            <a:fillRect/>
          </a:stretch>
        </p:blipFill>
        <p:spPr>
          <a:xfrm>
            <a:off x="304801" y="3499881"/>
            <a:ext cx="5929853" cy="3303638"/>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69393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240164" y="-569426"/>
            <a:ext cx="5216738" cy="1396989"/>
          </a:xfrm>
        </p:spPr>
        <p:txBody>
          <a:bodyPr>
            <a:normAutofit/>
          </a:bodyPr>
          <a:lstStyle/>
          <a:p>
            <a:r>
              <a:rPr lang="en-US" dirty="0"/>
              <a:t>RockBuster Stealth LLC</a:t>
            </a:r>
            <a:endParaRPr lang="en-ZA" dirty="0"/>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51675" y="905645"/>
            <a:ext cx="7202854" cy="1146890"/>
          </a:xfrm>
        </p:spPr>
        <p:txBody>
          <a:bodyPr>
            <a:noAutofit/>
          </a:bodyPr>
          <a:lstStyle/>
          <a:p>
            <a:r>
              <a:rPr lang="en-US" sz="1200" dirty="0">
                <a:solidFill>
                  <a:schemeClr val="tx1"/>
                </a:solidFill>
              </a:rPr>
              <a:t>Objective: </a:t>
            </a:r>
          </a:p>
          <a:p>
            <a:r>
              <a:rPr lang="en-US" sz="1200" dirty="0"/>
              <a:t>The Rockbuster Stealth Management Board has asked a series of business questions and they expect data-driven answers that they can use for their 2020 company strategy. Here are the main questions they’d like to answer:  Which movies contributed the most/least to revenue gain?  What was the average rental duration for all videos? Which countries are Rockbuster customers based in?  Where are customers with a high lifetime value based?  Do sales figures vary between geographic regions?</a:t>
            </a:r>
            <a:endParaRPr lang="en-US" sz="1200" dirty="0">
              <a:solidFill>
                <a:schemeClr val="tx1"/>
              </a:solidFill>
            </a:endParaRP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ZA" smtClean="0"/>
              <a:pPr/>
              <a:t>11</a:t>
            </a:fld>
            <a:endParaRPr lang="en-ZA" dirty="0"/>
          </a:p>
        </p:txBody>
      </p:sp>
      <p:sp>
        <p:nvSpPr>
          <p:cNvPr id="8" name="TextBox 7">
            <a:extLst>
              <a:ext uri="{FF2B5EF4-FFF2-40B4-BE49-F238E27FC236}">
                <a16:creationId xmlns:a16="http://schemas.microsoft.com/office/drawing/2014/main" id="{126F4026-9D92-D311-6DDE-28138B8B4D62}"/>
              </a:ext>
            </a:extLst>
          </p:cNvPr>
          <p:cNvSpPr txBox="1"/>
          <p:nvPr/>
        </p:nvSpPr>
        <p:spPr>
          <a:xfrm>
            <a:off x="240165" y="2732219"/>
            <a:ext cx="6095999" cy="830997"/>
          </a:xfrm>
          <a:prstGeom prst="rect">
            <a:avLst/>
          </a:prstGeom>
          <a:noFill/>
        </p:spPr>
        <p:txBody>
          <a:bodyPr wrap="square">
            <a:spAutoFit/>
          </a:bodyPr>
          <a:lstStyle/>
          <a:p>
            <a:r>
              <a:rPr lang="en-US" sz="1200" dirty="0">
                <a:solidFill>
                  <a:schemeClr val="tx1">
                    <a:lumMod val="75000"/>
                    <a:lumOff val="25000"/>
                  </a:schemeClr>
                </a:solidFill>
              </a:rPr>
              <a:t>Dataset:</a:t>
            </a:r>
          </a:p>
          <a:p>
            <a:r>
              <a:rPr lang="en-US" sz="1200" dirty="0">
                <a:hlinkClick r:id="rId2">
                  <a:extLst>
                    <a:ext uri="{A12FA001-AC4F-418D-AE19-62706E023703}">
                      <ahyp:hlinkClr xmlns:ahyp="http://schemas.microsoft.com/office/drawing/2018/hyperlinkcolor" val="tx"/>
                    </a:ext>
                  </a:extLst>
                </a:hlinkClick>
              </a:rPr>
              <a:t>Download Rockbuster Data Set</a:t>
            </a:r>
            <a:endParaRPr lang="en-US" sz="1200" dirty="0"/>
          </a:p>
          <a:p>
            <a:endParaRPr lang="en-US" sz="1200" dirty="0">
              <a:solidFill>
                <a:schemeClr val="tx1">
                  <a:lumMod val="75000"/>
                  <a:lumOff val="25000"/>
                </a:schemeClr>
              </a:solidFill>
            </a:endParaRPr>
          </a:p>
          <a:p>
            <a:endParaRPr lang="en-US" sz="1200" dirty="0">
              <a:solidFill>
                <a:schemeClr val="tx1">
                  <a:lumMod val="75000"/>
                  <a:lumOff val="25000"/>
                </a:schemeClr>
              </a:solidFill>
            </a:endParaRPr>
          </a:p>
        </p:txBody>
      </p:sp>
      <p:sp>
        <p:nvSpPr>
          <p:cNvPr id="10" name="TextBox 9">
            <a:extLst>
              <a:ext uri="{FF2B5EF4-FFF2-40B4-BE49-F238E27FC236}">
                <a16:creationId xmlns:a16="http://schemas.microsoft.com/office/drawing/2014/main" id="{6205E42C-3885-622D-6A72-412106523FF4}"/>
              </a:ext>
            </a:extLst>
          </p:cNvPr>
          <p:cNvSpPr txBox="1"/>
          <p:nvPr/>
        </p:nvSpPr>
        <p:spPr>
          <a:xfrm>
            <a:off x="240164" y="3641298"/>
            <a:ext cx="3073307" cy="1754326"/>
          </a:xfrm>
          <a:prstGeom prst="rect">
            <a:avLst/>
          </a:prstGeom>
          <a:noFill/>
        </p:spPr>
        <p:txBody>
          <a:bodyPr wrap="square">
            <a:spAutoFit/>
          </a:bodyPr>
          <a:lstStyle/>
          <a:p>
            <a:r>
              <a:rPr lang="en-US" sz="1200" dirty="0">
                <a:solidFill>
                  <a:schemeClr val="tx1">
                    <a:lumMod val="75000"/>
                    <a:lumOff val="25000"/>
                  </a:schemeClr>
                </a:solidFill>
              </a:rPr>
              <a:t>Skills Used:</a:t>
            </a:r>
          </a:p>
          <a:p>
            <a:pPr marL="171450" indent="-171450">
              <a:buFont typeface="Arial" panose="020B0604020202020204" pitchFamily="34" charset="0"/>
              <a:buChar char="•"/>
            </a:pPr>
            <a:r>
              <a:rPr lang="en-US" sz="1200" dirty="0">
                <a:solidFill>
                  <a:schemeClr val="tx1">
                    <a:lumMod val="75000"/>
                    <a:lumOff val="25000"/>
                  </a:schemeClr>
                </a:solidFill>
              </a:rPr>
              <a:t>Relational Databases</a:t>
            </a:r>
          </a:p>
          <a:p>
            <a:pPr marL="171450" indent="-171450">
              <a:buFont typeface="Arial" panose="020B0604020202020204" pitchFamily="34" charset="0"/>
              <a:buChar char="•"/>
            </a:pPr>
            <a:r>
              <a:rPr lang="en-US" sz="1200" dirty="0">
                <a:solidFill>
                  <a:schemeClr val="tx1">
                    <a:lumMod val="75000"/>
                    <a:lumOff val="25000"/>
                  </a:schemeClr>
                </a:solidFill>
              </a:rPr>
              <a:t>Database Querying</a:t>
            </a:r>
          </a:p>
          <a:p>
            <a:pPr marL="171450" indent="-171450">
              <a:buFont typeface="Arial" panose="020B0604020202020204" pitchFamily="34" charset="0"/>
              <a:buChar char="•"/>
            </a:pPr>
            <a:r>
              <a:rPr lang="en-US" sz="1200" dirty="0">
                <a:solidFill>
                  <a:schemeClr val="tx1">
                    <a:lumMod val="75000"/>
                    <a:lumOff val="25000"/>
                  </a:schemeClr>
                </a:solidFill>
              </a:rPr>
              <a:t>Filtering</a:t>
            </a:r>
          </a:p>
          <a:p>
            <a:pPr marL="171450" indent="-171450">
              <a:buFont typeface="Arial" panose="020B0604020202020204" pitchFamily="34" charset="0"/>
              <a:buChar char="•"/>
            </a:pPr>
            <a:r>
              <a:rPr lang="en-US" sz="1200" dirty="0">
                <a:solidFill>
                  <a:schemeClr val="tx1">
                    <a:lumMod val="75000"/>
                    <a:lumOff val="25000"/>
                  </a:schemeClr>
                </a:solidFill>
              </a:rPr>
              <a:t>Cleaning and Summarizing</a:t>
            </a:r>
          </a:p>
          <a:p>
            <a:pPr marL="171450" indent="-171450">
              <a:buFont typeface="Arial" panose="020B0604020202020204" pitchFamily="34" charset="0"/>
              <a:buChar char="•"/>
            </a:pPr>
            <a:r>
              <a:rPr lang="en-US" sz="1200" dirty="0">
                <a:solidFill>
                  <a:schemeClr val="tx1">
                    <a:lumMod val="75000"/>
                    <a:lumOff val="25000"/>
                  </a:schemeClr>
                </a:solidFill>
              </a:rPr>
              <a:t>Joining Tables</a:t>
            </a:r>
          </a:p>
          <a:p>
            <a:pPr marL="171450" indent="-171450">
              <a:buFont typeface="Arial" panose="020B0604020202020204" pitchFamily="34" charset="0"/>
              <a:buChar char="•"/>
            </a:pPr>
            <a:r>
              <a:rPr lang="en-US" sz="1200" dirty="0">
                <a:solidFill>
                  <a:schemeClr val="tx1">
                    <a:lumMod val="75000"/>
                    <a:lumOff val="25000"/>
                  </a:schemeClr>
                </a:solidFill>
              </a:rPr>
              <a:t>Subqueries</a:t>
            </a:r>
          </a:p>
          <a:p>
            <a:pPr marL="171450" indent="-171450">
              <a:buFont typeface="Arial" panose="020B0604020202020204" pitchFamily="34" charset="0"/>
              <a:buChar char="•"/>
            </a:pPr>
            <a:r>
              <a:rPr lang="en-US" sz="1200" dirty="0">
                <a:solidFill>
                  <a:schemeClr val="tx1">
                    <a:lumMod val="75000"/>
                    <a:lumOff val="25000"/>
                  </a:schemeClr>
                </a:solidFill>
              </a:rPr>
              <a:t>Common Table Expressions</a:t>
            </a:r>
          </a:p>
          <a:p>
            <a:endParaRPr lang="en-US" sz="1200" dirty="0">
              <a:solidFill>
                <a:schemeClr val="tx1">
                  <a:lumMod val="75000"/>
                  <a:lumOff val="25000"/>
                </a:schemeClr>
              </a:solidFill>
            </a:endParaRPr>
          </a:p>
        </p:txBody>
      </p:sp>
      <p:sp>
        <p:nvSpPr>
          <p:cNvPr id="14" name="TextBox 13">
            <a:extLst>
              <a:ext uri="{FF2B5EF4-FFF2-40B4-BE49-F238E27FC236}">
                <a16:creationId xmlns:a16="http://schemas.microsoft.com/office/drawing/2014/main" id="{83BDB46B-699D-E6F8-165B-3E67539CDBDB}"/>
              </a:ext>
            </a:extLst>
          </p:cNvPr>
          <p:cNvSpPr txBox="1"/>
          <p:nvPr/>
        </p:nvSpPr>
        <p:spPr>
          <a:xfrm>
            <a:off x="4493056" y="2826409"/>
            <a:ext cx="1095583" cy="707886"/>
          </a:xfrm>
          <a:prstGeom prst="rect">
            <a:avLst/>
          </a:prstGeom>
          <a:noFill/>
        </p:spPr>
        <p:txBody>
          <a:bodyPr wrap="square">
            <a:spAutoFit/>
          </a:bodyPr>
          <a:lstStyle/>
          <a:p>
            <a:r>
              <a:rPr lang="en-US" sz="1200" dirty="0">
                <a:solidFill>
                  <a:schemeClr val="tx1">
                    <a:lumMod val="75000"/>
                    <a:lumOff val="25000"/>
                  </a:schemeClr>
                </a:solidFill>
              </a:rPr>
              <a:t>Tools Used:</a:t>
            </a:r>
            <a:endParaRPr lang="en-US" sz="1400" dirty="0">
              <a:solidFill>
                <a:schemeClr val="tx1">
                  <a:lumMod val="75000"/>
                  <a:lumOff val="25000"/>
                </a:schemeClr>
              </a:solidFill>
            </a:endParaRPr>
          </a:p>
          <a:p>
            <a:endParaRPr lang="en-US" sz="1400" dirty="0">
              <a:solidFill>
                <a:schemeClr val="tx1">
                  <a:lumMod val="75000"/>
                  <a:lumOff val="25000"/>
                </a:schemeClr>
              </a:solidFill>
            </a:endParaRPr>
          </a:p>
          <a:p>
            <a:endParaRPr lang="en-US" sz="1400" dirty="0">
              <a:solidFill>
                <a:schemeClr val="tx1">
                  <a:lumMod val="75000"/>
                  <a:lumOff val="25000"/>
                </a:schemeClr>
              </a:solidFill>
            </a:endParaRPr>
          </a:p>
        </p:txBody>
      </p:sp>
      <p:pic>
        <p:nvPicPr>
          <p:cNvPr id="18" name="Picture 17">
            <a:extLst>
              <a:ext uri="{FF2B5EF4-FFF2-40B4-BE49-F238E27FC236}">
                <a16:creationId xmlns:a16="http://schemas.microsoft.com/office/drawing/2014/main" id="{638264EC-E90B-A5F7-EF25-9A7AF0EEA3FB}"/>
              </a:ext>
            </a:extLst>
          </p:cNvPr>
          <p:cNvPicPr>
            <a:picLocks noChangeAspect="1"/>
          </p:cNvPicPr>
          <p:nvPr/>
        </p:nvPicPr>
        <p:blipFill>
          <a:blip r:embed="rId3"/>
          <a:stretch>
            <a:fillRect/>
          </a:stretch>
        </p:blipFill>
        <p:spPr>
          <a:xfrm>
            <a:off x="4473392" y="3393718"/>
            <a:ext cx="783309" cy="482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5">
            <a:extLst>
              <a:ext uri="{FF2B5EF4-FFF2-40B4-BE49-F238E27FC236}">
                <a16:creationId xmlns:a16="http://schemas.microsoft.com/office/drawing/2014/main" id="{FA62882F-9DDE-8B54-0BA7-7019BA886420}"/>
              </a:ext>
            </a:extLst>
          </p:cNvPr>
          <p:cNvPicPr>
            <a:picLocks noChangeAspect="1"/>
          </p:cNvPicPr>
          <p:nvPr/>
        </p:nvPicPr>
        <p:blipFill>
          <a:blip r:embed="rId4"/>
          <a:stretch>
            <a:fillRect/>
          </a:stretch>
        </p:blipFill>
        <p:spPr>
          <a:xfrm>
            <a:off x="5588639" y="3376323"/>
            <a:ext cx="783309" cy="5061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a:extLst>
              <a:ext uri="{FF2B5EF4-FFF2-40B4-BE49-F238E27FC236}">
                <a16:creationId xmlns:a16="http://schemas.microsoft.com/office/drawing/2014/main" id="{F60356BD-CE09-D31A-295A-6D77A3AD61AF}"/>
              </a:ext>
            </a:extLst>
          </p:cNvPr>
          <p:cNvPicPr>
            <a:picLocks noChangeAspect="1"/>
          </p:cNvPicPr>
          <p:nvPr/>
        </p:nvPicPr>
        <p:blipFill>
          <a:blip r:embed="rId5"/>
          <a:stretch>
            <a:fillRect/>
          </a:stretch>
        </p:blipFill>
        <p:spPr>
          <a:xfrm>
            <a:off x="4501618" y="4130525"/>
            <a:ext cx="768471" cy="4723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2ED234B3-BB27-0971-CF24-3242E78CA4DD}"/>
              </a:ext>
            </a:extLst>
          </p:cNvPr>
          <p:cNvPicPr>
            <a:picLocks noChangeAspect="1"/>
          </p:cNvPicPr>
          <p:nvPr/>
        </p:nvPicPr>
        <p:blipFill>
          <a:blip r:embed="rId6"/>
          <a:stretch>
            <a:fillRect/>
          </a:stretch>
        </p:blipFill>
        <p:spPr>
          <a:xfrm>
            <a:off x="5563714" y="4113130"/>
            <a:ext cx="808234" cy="482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87470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F9CF9D-4F72-4066-CAAD-60AADED0CA17}"/>
              </a:ext>
            </a:extLst>
          </p:cNvPr>
          <p:cNvPicPr>
            <a:picLocks noChangeAspect="1"/>
          </p:cNvPicPr>
          <p:nvPr/>
        </p:nvPicPr>
        <p:blipFill>
          <a:blip r:embed="rId2"/>
          <a:stretch>
            <a:fillRect/>
          </a:stretch>
        </p:blipFill>
        <p:spPr>
          <a:xfrm>
            <a:off x="203015" y="1081549"/>
            <a:ext cx="5406258" cy="2172412"/>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pic>
        <p:nvPicPr>
          <p:cNvPr id="3" name="Picture 2">
            <a:extLst>
              <a:ext uri="{FF2B5EF4-FFF2-40B4-BE49-F238E27FC236}">
                <a16:creationId xmlns:a16="http://schemas.microsoft.com/office/drawing/2014/main" id="{020282FF-29D3-22BA-1E63-79527E3C618B}"/>
              </a:ext>
            </a:extLst>
          </p:cNvPr>
          <p:cNvPicPr>
            <a:picLocks noChangeAspect="1"/>
          </p:cNvPicPr>
          <p:nvPr/>
        </p:nvPicPr>
        <p:blipFill>
          <a:blip r:embed="rId3"/>
          <a:stretch>
            <a:fillRect/>
          </a:stretch>
        </p:blipFill>
        <p:spPr>
          <a:xfrm>
            <a:off x="6131907" y="1081549"/>
            <a:ext cx="5371211" cy="2172411"/>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4834B86C-7F96-7590-F27C-5D76427599D7}"/>
              </a:ext>
            </a:extLst>
          </p:cNvPr>
          <p:cNvPicPr>
            <a:picLocks noChangeAspect="1"/>
          </p:cNvPicPr>
          <p:nvPr/>
        </p:nvPicPr>
        <p:blipFill>
          <a:blip r:embed="rId4"/>
          <a:stretch>
            <a:fillRect/>
          </a:stretch>
        </p:blipFill>
        <p:spPr>
          <a:xfrm>
            <a:off x="6131907" y="4149214"/>
            <a:ext cx="5531219" cy="2343398"/>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4B1B46F6-BE2C-0C93-DA91-495D4616EF71}"/>
              </a:ext>
            </a:extLst>
          </p:cNvPr>
          <p:cNvPicPr>
            <a:picLocks noChangeAspect="1"/>
          </p:cNvPicPr>
          <p:nvPr/>
        </p:nvPicPr>
        <p:blipFill>
          <a:blip r:embed="rId5"/>
          <a:stretch>
            <a:fillRect/>
          </a:stretch>
        </p:blipFill>
        <p:spPr>
          <a:xfrm>
            <a:off x="203015" y="4149215"/>
            <a:ext cx="5488444" cy="2343398"/>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F49DCA71-0FA4-CD0F-5B7A-340A5E321B47}"/>
              </a:ext>
            </a:extLst>
          </p:cNvPr>
          <p:cNvSpPr txBox="1"/>
          <p:nvPr/>
        </p:nvSpPr>
        <p:spPr>
          <a:xfrm>
            <a:off x="4198374" y="264590"/>
            <a:ext cx="6096000" cy="369332"/>
          </a:xfrm>
          <a:prstGeom prst="rect">
            <a:avLst/>
          </a:prstGeom>
          <a:noFill/>
        </p:spPr>
        <p:txBody>
          <a:bodyPr wrap="square">
            <a:spAutoFit/>
          </a:bodyPr>
          <a:lstStyle/>
          <a:p>
            <a:r>
              <a:rPr lang="en-US" dirty="0"/>
              <a:t>Rockbuster Visualizations</a:t>
            </a:r>
          </a:p>
        </p:txBody>
      </p:sp>
    </p:spTree>
    <p:extLst>
      <p:ext uri="{BB962C8B-B14F-4D97-AF65-F5344CB8AC3E}">
        <p14:creationId xmlns:p14="http://schemas.microsoft.com/office/powerpoint/2010/main" val="3087261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1FD2FE-1F3A-0C40-BA73-78DBCF7621D7}"/>
              </a:ext>
            </a:extLst>
          </p:cNvPr>
          <p:cNvPicPr>
            <a:picLocks noChangeAspect="1"/>
          </p:cNvPicPr>
          <p:nvPr/>
        </p:nvPicPr>
        <p:blipFill>
          <a:blip r:embed="rId2"/>
          <a:stretch>
            <a:fillRect/>
          </a:stretch>
        </p:blipFill>
        <p:spPr>
          <a:xfrm>
            <a:off x="1725560" y="1198536"/>
            <a:ext cx="8421329" cy="5450965"/>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sp>
        <p:nvSpPr>
          <p:cNvPr id="4" name="TextBox 3">
            <a:extLst>
              <a:ext uri="{FF2B5EF4-FFF2-40B4-BE49-F238E27FC236}">
                <a16:creationId xmlns:a16="http://schemas.microsoft.com/office/drawing/2014/main" id="{D578689C-73E9-67CC-9C43-A2C0C2297D16}"/>
              </a:ext>
            </a:extLst>
          </p:cNvPr>
          <p:cNvSpPr txBox="1"/>
          <p:nvPr/>
        </p:nvSpPr>
        <p:spPr>
          <a:xfrm>
            <a:off x="2605549" y="641244"/>
            <a:ext cx="6096000" cy="369332"/>
          </a:xfrm>
          <a:prstGeom prst="rect">
            <a:avLst/>
          </a:prstGeom>
          <a:noFill/>
        </p:spPr>
        <p:txBody>
          <a:bodyPr wrap="square">
            <a:spAutoFit/>
          </a:bodyPr>
          <a:lstStyle/>
          <a:p>
            <a:pPr algn="ctr"/>
            <a:r>
              <a:rPr lang="en-US" dirty="0"/>
              <a:t>Rockbuster: Total Revenue Per Country</a:t>
            </a:r>
          </a:p>
        </p:txBody>
      </p:sp>
    </p:spTree>
    <p:extLst>
      <p:ext uri="{BB962C8B-B14F-4D97-AF65-F5344CB8AC3E}">
        <p14:creationId xmlns:p14="http://schemas.microsoft.com/office/powerpoint/2010/main" val="3643194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ABC6F4-A2D5-E290-3F72-386A6A290B15}"/>
              </a:ext>
            </a:extLst>
          </p:cNvPr>
          <p:cNvSpPr txBox="1"/>
          <p:nvPr/>
        </p:nvSpPr>
        <p:spPr>
          <a:xfrm>
            <a:off x="790380" y="2825259"/>
            <a:ext cx="10611239" cy="2677656"/>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mj-lt"/>
                <a:ea typeface="+mj-ea"/>
                <a:cs typeface="+mj-cs"/>
              </a:rPr>
              <a:t>Sports is the largest revenue producing genre comprising 8% of total market share in terms of revenue globally. The top ten titles by revenue command 3% of global sales.</a:t>
            </a:r>
          </a:p>
          <a:p>
            <a:pPr marL="171450" indent="-171450">
              <a:buFont typeface="Arial" panose="020B0604020202020204" pitchFamily="34" charset="0"/>
              <a:buChar char="•"/>
            </a:pPr>
            <a:endParaRPr lang="en-US" sz="1200" dirty="0">
              <a:latin typeface="+mj-lt"/>
              <a:ea typeface="+mj-ea"/>
              <a:cs typeface="+mj-cs"/>
            </a:endParaRPr>
          </a:p>
          <a:p>
            <a:pPr marL="171450" indent="-171450">
              <a:buFont typeface="Arial" panose="020B0604020202020204" pitchFamily="34" charset="0"/>
              <a:buChar char="•"/>
            </a:pPr>
            <a:r>
              <a:rPr lang="en-US" sz="1200" dirty="0">
                <a:latin typeface="+mj-lt"/>
                <a:ea typeface="+mj-ea"/>
                <a:cs typeface="+mj-cs"/>
              </a:rPr>
              <a:t>Based on this information we believe Rockbuster should update the top ten list of movies daily on the new Rockbuster stealth streaming service to constantly drive demand to the new ecosystem.</a:t>
            </a:r>
          </a:p>
          <a:p>
            <a:pPr marL="171450" indent="-171450">
              <a:buFont typeface="Arial" panose="020B0604020202020204" pitchFamily="34" charset="0"/>
              <a:buChar char="•"/>
            </a:pPr>
            <a:endParaRPr lang="en-US" sz="1200" dirty="0">
              <a:latin typeface="+mj-lt"/>
              <a:ea typeface="+mj-ea"/>
              <a:cs typeface="+mj-cs"/>
            </a:endParaRPr>
          </a:p>
          <a:p>
            <a:pPr marL="171450" indent="-171450">
              <a:buFont typeface="Arial" panose="020B0604020202020204" pitchFamily="34" charset="0"/>
              <a:buChar char="•"/>
            </a:pPr>
            <a:r>
              <a:rPr lang="en-US" sz="1200" dirty="0">
                <a:latin typeface="+mj-lt"/>
                <a:ea typeface="+mj-ea"/>
                <a:cs typeface="+mj-cs"/>
              </a:rPr>
              <a:t>Rockbuster should focus a slightly larger number of resources on the  Sports genre since it alone compiles 8% of global sales. </a:t>
            </a:r>
          </a:p>
          <a:p>
            <a:pPr marL="171450" indent="-171450">
              <a:buFont typeface="Arial" panose="020B0604020202020204" pitchFamily="34" charset="0"/>
              <a:buChar char="•"/>
            </a:pPr>
            <a:endParaRPr lang="en-US" sz="1200" dirty="0">
              <a:latin typeface="+mj-lt"/>
              <a:ea typeface="+mj-ea"/>
              <a:cs typeface="+mj-cs"/>
            </a:endParaRPr>
          </a:p>
          <a:p>
            <a:pPr marL="171450" indent="-171450">
              <a:buFont typeface="Arial" panose="020B0604020202020204" pitchFamily="34" charset="0"/>
              <a:buChar char="•"/>
            </a:pPr>
            <a:r>
              <a:rPr lang="en-US" sz="1200" dirty="0">
                <a:latin typeface="+mj-lt"/>
                <a:ea typeface="+mj-ea"/>
                <a:cs typeface="+mj-cs"/>
              </a:rPr>
              <a:t>Outside of the sports genre the percentage of sales is similar, and resources should be spread evenly so we can reach the largest amount of the addressable market.</a:t>
            </a:r>
          </a:p>
          <a:p>
            <a:pPr marL="171450" indent="-171450">
              <a:buFont typeface="Arial" panose="020B0604020202020204" pitchFamily="34" charset="0"/>
              <a:buChar char="•"/>
            </a:pPr>
            <a:endParaRPr lang="en-US" sz="1200" dirty="0">
              <a:latin typeface="+mj-lt"/>
              <a:ea typeface="+mj-ea"/>
              <a:cs typeface="+mj-cs"/>
            </a:endParaRPr>
          </a:p>
          <a:p>
            <a:pPr marL="171450" indent="-171450">
              <a:buFont typeface="Arial" panose="020B0604020202020204" pitchFamily="34" charset="0"/>
              <a:buChar char="•"/>
            </a:pPr>
            <a:endParaRPr lang="en-US" sz="1200" dirty="0">
              <a:latin typeface="+mj-lt"/>
              <a:ea typeface="+mj-ea"/>
              <a:cs typeface="+mj-cs"/>
            </a:endParaRPr>
          </a:p>
          <a:p>
            <a:pPr marL="171450" indent="-171450">
              <a:buFont typeface="Arial" panose="020B0604020202020204" pitchFamily="34" charset="0"/>
              <a:buChar char="•"/>
            </a:pPr>
            <a:endParaRPr lang="en-US" sz="1200" dirty="0">
              <a:latin typeface="+mj-lt"/>
              <a:ea typeface="+mj-ea"/>
              <a:cs typeface="+mj-cs"/>
            </a:endParaRPr>
          </a:p>
          <a:p>
            <a:pPr marL="171450" indent="-171450">
              <a:buFont typeface="Arial" panose="020B0604020202020204" pitchFamily="34" charset="0"/>
              <a:buChar char="•"/>
            </a:pPr>
            <a:endParaRPr lang="en-US" sz="1200" dirty="0"/>
          </a:p>
        </p:txBody>
      </p:sp>
      <p:sp>
        <p:nvSpPr>
          <p:cNvPr id="9" name="TextBox 8">
            <a:extLst>
              <a:ext uri="{FF2B5EF4-FFF2-40B4-BE49-F238E27FC236}">
                <a16:creationId xmlns:a16="http://schemas.microsoft.com/office/drawing/2014/main" id="{C4B1080A-3459-654A-B54B-3E221DE51871}"/>
              </a:ext>
            </a:extLst>
          </p:cNvPr>
          <p:cNvSpPr txBox="1"/>
          <p:nvPr/>
        </p:nvSpPr>
        <p:spPr>
          <a:xfrm>
            <a:off x="2880827" y="183893"/>
            <a:ext cx="6097554" cy="369332"/>
          </a:xfrm>
          <a:prstGeom prst="rect">
            <a:avLst/>
          </a:prstGeom>
          <a:noFill/>
        </p:spPr>
        <p:txBody>
          <a:bodyPr wrap="square">
            <a:spAutoFit/>
          </a:bodyPr>
          <a:lstStyle/>
          <a:p>
            <a:r>
              <a:rPr lang="en-US" dirty="0"/>
              <a:t>Recommendations for implementing new business segment </a:t>
            </a:r>
          </a:p>
        </p:txBody>
      </p:sp>
      <p:sp>
        <p:nvSpPr>
          <p:cNvPr id="11" name="TextBox 10">
            <a:extLst>
              <a:ext uri="{FF2B5EF4-FFF2-40B4-BE49-F238E27FC236}">
                <a16:creationId xmlns:a16="http://schemas.microsoft.com/office/drawing/2014/main" id="{F37B2B30-5EA3-30B4-469E-651E64667F3A}"/>
              </a:ext>
            </a:extLst>
          </p:cNvPr>
          <p:cNvSpPr txBox="1"/>
          <p:nvPr/>
        </p:nvSpPr>
        <p:spPr>
          <a:xfrm>
            <a:off x="501521" y="1030060"/>
            <a:ext cx="6097554" cy="879023"/>
          </a:xfrm>
          <a:prstGeom prst="rect">
            <a:avLst/>
          </a:prstGeom>
          <a:noFill/>
        </p:spPr>
        <p:txBody>
          <a:bodyPr wrap="square">
            <a:spAutoFit/>
          </a:bodyPr>
          <a:lstStyle/>
          <a:p>
            <a:pPr marL="0" marR="0">
              <a:lnSpc>
                <a:spcPct val="107000"/>
              </a:lnSpc>
              <a:spcBef>
                <a:spcPts val="0"/>
              </a:spcBef>
              <a:spcAft>
                <a:spcPts val="800"/>
              </a:spcAft>
            </a:pPr>
            <a:r>
              <a:rPr lang="en-US" sz="1200" kern="100" dirty="0">
                <a:effectLst/>
                <a:latin typeface="+mj-lt"/>
                <a:ea typeface="Calibri" panose="020F0502020204030204" pitchFamily="34" charset="0"/>
                <a:cs typeface="Times New Roman" panose="02020603050405020304" pitchFamily="18" charset="0"/>
              </a:rPr>
              <a:t>Subscription plan: </a:t>
            </a:r>
          </a:p>
          <a:p>
            <a:pPr marL="228600" indent="-228600">
              <a:lnSpc>
                <a:spcPct val="107000"/>
              </a:lnSpc>
              <a:spcAft>
                <a:spcPts val="800"/>
              </a:spcAft>
              <a:buFont typeface="Arial" panose="020B0604020202020204" pitchFamily="34" charset="0"/>
              <a:buChar char="•"/>
              <a:tabLst>
                <a:tab pos="1371600" algn="l"/>
              </a:tabLst>
            </a:pPr>
            <a:r>
              <a:rPr lang="en-US" sz="1200" kern="100" dirty="0">
                <a:effectLst/>
                <a:latin typeface="+mj-lt"/>
                <a:ea typeface="Calibri" panose="020F0502020204030204" pitchFamily="34" charset="0"/>
                <a:cs typeface="Times New Roman" panose="02020603050405020304" pitchFamily="18" charset="0"/>
              </a:rPr>
              <a:t>Standard plan of $9.99 </a:t>
            </a:r>
          </a:p>
          <a:p>
            <a:pPr marL="228600" indent="-228600">
              <a:lnSpc>
                <a:spcPct val="107000"/>
              </a:lnSpc>
              <a:spcAft>
                <a:spcPts val="800"/>
              </a:spcAft>
              <a:buFont typeface="Arial" panose="020B0604020202020204" pitchFamily="34" charset="0"/>
              <a:buChar char="•"/>
              <a:tabLst>
                <a:tab pos="1371600" algn="l"/>
              </a:tabLst>
            </a:pPr>
            <a:r>
              <a:rPr lang="en-US" sz="1200" kern="100" dirty="0">
                <a:effectLst/>
                <a:latin typeface="+mj-lt"/>
                <a:ea typeface="Calibri" panose="020F0502020204030204" pitchFamily="34" charset="0"/>
                <a:cs typeface="Times New Roman" panose="02020603050405020304" pitchFamily="18" charset="0"/>
              </a:rPr>
              <a:t>Premium Plan of $13.99</a:t>
            </a:r>
          </a:p>
        </p:txBody>
      </p:sp>
      <p:sp>
        <p:nvSpPr>
          <p:cNvPr id="13" name="TextBox 12">
            <a:extLst>
              <a:ext uri="{FF2B5EF4-FFF2-40B4-BE49-F238E27FC236}">
                <a16:creationId xmlns:a16="http://schemas.microsoft.com/office/drawing/2014/main" id="{DA86D8A3-75ED-F9F3-F9C0-F94BF2B1727D}"/>
              </a:ext>
            </a:extLst>
          </p:cNvPr>
          <p:cNvSpPr txBox="1"/>
          <p:nvPr/>
        </p:nvSpPr>
        <p:spPr>
          <a:xfrm>
            <a:off x="2880827" y="945268"/>
            <a:ext cx="4361283" cy="1179234"/>
          </a:xfrm>
          <a:prstGeom prst="rect">
            <a:avLst/>
          </a:prstGeom>
          <a:noFill/>
        </p:spPr>
        <p:txBody>
          <a:bodyPr wrap="square">
            <a:spAutoFit/>
          </a:bodyPr>
          <a:lstStyle/>
          <a:p>
            <a:pPr marL="0" marR="0">
              <a:lnSpc>
                <a:spcPct val="107000"/>
              </a:lnSpc>
              <a:spcBef>
                <a:spcPts val="0"/>
              </a:spcBef>
              <a:spcAft>
                <a:spcPts val="800"/>
              </a:spcAft>
            </a:pPr>
            <a:r>
              <a:rPr lang="en-US" sz="1200" kern="100" dirty="0">
                <a:effectLst/>
                <a:latin typeface="+mj-lt"/>
                <a:ea typeface="Calibri" panose="020F0502020204030204" pitchFamily="34" charset="0"/>
                <a:cs typeface="Times New Roman" panose="02020603050405020304" pitchFamily="18" charset="0"/>
              </a:rPr>
              <a:t>Increase spending in largest revenue silos:</a:t>
            </a:r>
          </a:p>
          <a:p>
            <a:pPr marL="228600" indent="-228600">
              <a:lnSpc>
                <a:spcPct val="107000"/>
              </a:lnSpc>
              <a:spcAft>
                <a:spcPts val="800"/>
              </a:spcAft>
              <a:buFont typeface="Arial" panose="020B0604020202020204" pitchFamily="34" charset="0"/>
              <a:buChar char="•"/>
              <a:tabLst>
                <a:tab pos="1371600" algn="l"/>
              </a:tabLst>
            </a:pPr>
            <a:r>
              <a:rPr lang="en-US" sz="1200" kern="100" dirty="0">
                <a:effectLst/>
                <a:latin typeface="+mj-lt"/>
                <a:ea typeface="Calibri" panose="020F0502020204030204" pitchFamily="34" charset="0"/>
                <a:cs typeface="Times New Roman" panose="02020603050405020304" pitchFamily="18" charset="0"/>
              </a:rPr>
              <a:t> PG-13 Rated Movies</a:t>
            </a:r>
          </a:p>
          <a:p>
            <a:pPr marL="228600" indent="-228600">
              <a:lnSpc>
                <a:spcPct val="107000"/>
              </a:lnSpc>
              <a:spcAft>
                <a:spcPts val="800"/>
              </a:spcAft>
              <a:buFont typeface="Arial" panose="020B0604020202020204" pitchFamily="34" charset="0"/>
              <a:buChar char="•"/>
              <a:tabLst>
                <a:tab pos="1371600" algn="l"/>
              </a:tabLst>
            </a:pPr>
            <a:r>
              <a:rPr lang="en-US" sz="1200" kern="100" dirty="0">
                <a:effectLst/>
                <a:latin typeface="+mj-lt"/>
                <a:ea typeface="Calibri" panose="020F0502020204030204" pitchFamily="34" charset="0"/>
                <a:cs typeface="Times New Roman" panose="02020603050405020304" pitchFamily="18" charset="0"/>
              </a:rPr>
              <a:t> Movies within Sports Genre</a:t>
            </a:r>
          </a:p>
          <a:p>
            <a:pPr marL="228600" indent="-228600">
              <a:lnSpc>
                <a:spcPct val="107000"/>
              </a:lnSpc>
              <a:spcAft>
                <a:spcPts val="800"/>
              </a:spcAft>
              <a:buFont typeface="Arial" panose="020B0604020202020204" pitchFamily="34" charset="0"/>
              <a:buChar char="•"/>
              <a:tabLst>
                <a:tab pos="1371600" algn="l"/>
              </a:tabLst>
            </a:pPr>
            <a:r>
              <a:rPr lang="en-US" sz="1200" kern="100" dirty="0">
                <a:effectLst/>
                <a:latin typeface="+mj-lt"/>
                <a:ea typeface="Calibri" panose="020F0502020204030204" pitchFamily="34" charset="0"/>
                <a:cs typeface="Times New Roman" panose="02020603050405020304" pitchFamily="18" charset="0"/>
              </a:rPr>
              <a:t>India, China, &amp; South America</a:t>
            </a:r>
          </a:p>
        </p:txBody>
      </p:sp>
      <p:sp>
        <p:nvSpPr>
          <p:cNvPr id="15" name="TextBox 14">
            <a:extLst>
              <a:ext uri="{FF2B5EF4-FFF2-40B4-BE49-F238E27FC236}">
                <a16:creationId xmlns:a16="http://schemas.microsoft.com/office/drawing/2014/main" id="{67581F21-DA0E-D54F-7FB8-E4105E781AA7}"/>
              </a:ext>
            </a:extLst>
          </p:cNvPr>
          <p:cNvSpPr txBox="1"/>
          <p:nvPr/>
        </p:nvSpPr>
        <p:spPr>
          <a:xfrm>
            <a:off x="6864999" y="1030060"/>
            <a:ext cx="6097554" cy="578813"/>
          </a:xfrm>
          <a:prstGeom prst="rect">
            <a:avLst/>
          </a:prstGeom>
          <a:noFill/>
        </p:spPr>
        <p:txBody>
          <a:bodyPr wrap="square">
            <a:spAutoFit/>
          </a:bodyPr>
          <a:lstStyle/>
          <a:p>
            <a:pPr marL="0" marR="0">
              <a:lnSpc>
                <a:spcPct val="107000"/>
              </a:lnSpc>
              <a:spcBef>
                <a:spcPts val="0"/>
              </a:spcBef>
              <a:spcAft>
                <a:spcPts val="800"/>
              </a:spcAft>
            </a:pPr>
            <a:r>
              <a:rPr lang="en-US" sz="1200" kern="100" dirty="0">
                <a:effectLst/>
                <a:latin typeface="+mj-lt"/>
                <a:ea typeface="Calibri" panose="020F0502020204030204" pitchFamily="34" charset="0"/>
                <a:cs typeface="Times New Roman" panose="02020603050405020304" pitchFamily="18" charset="0"/>
              </a:rPr>
              <a:t>Create Loyalty Program to retain customers in top markets like: </a:t>
            </a:r>
          </a:p>
          <a:p>
            <a:pPr marL="228600" indent="-228600">
              <a:lnSpc>
                <a:spcPct val="107000"/>
              </a:lnSpc>
              <a:spcAft>
                <a:spcPts val="800"/>
              </a:spcAft>
              <a:buFont typeface="Arial" panose="020B0604020202020204" pitchFamily="34" charset="0"/>
              <a:buChar char="•"/>
              <a:tabLst>
                <a:tab pos="1371600" algn="l"/>
              </a:tabLst>
            </a:pPr>
            <a:r>
              <a:rPr lang="en-US" sz="1200" kern="100" dirty="0">
                <a:effectLst/>
                <a:latin typeface="+mj-lt"/>
                <a:ea typeface="Calibri" panose="020F0502020204030204" pitchFamily="34" charset="0"/>
                <a:cs typeface="Times New Roman" panose="02020603050405020304" pitchFamily="18" charset="0"/>
              </a:rPr>
              <a:t>India, China, USA, Japan, Mexico</a:t>
            </a:r>
          </a:p>
        </p:txBody>
      </p:sp>
    </p:spTree>
    <p:extLst>
      <p:ext uri="{BB962C8B-B14F-4D97-AF65-F5344CB8AC3E}">
        <p14:creationId xmlns:p14="http://schemas.microsoft.com/office/powerpoint/2010/main" val="4161790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240164" y="-238563"/>
            <a:ext cx="6386778" cy="1490247"/>
          </a:xfrm>
        </p:spPr>
        <p:txBody>
          <a:bodyPr>
            <a:normAutofit/>
          </a:bodyPr>
          <a:lstStyle/>
          <a:p>
            <a:r>
              <a:rPr lang="en-US" dirty="0"/>
              <a:t>InstaCart Basket Analysis</a:t>
            </a:r>
            <a:endParaRPr lang="en-ZA" dirty="0"/>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240165" y="1253541"/>
            <a:ext cx="7202854" cy="1146890"/>
          </a:xfrm>
        </p:spPr>
        <p:txBody>
          <a:bodyPr>
            <a:normAutofit fontScale="85000" lnSpcReduction="20000"/>
          </a:bodyPr>
          <a:lstStyle/>
          <a:p>
            <a:r>
              <a:rPr lang="en-US" dirty="0">
                <a:solidFill>
                  <a:schemeClr val="tx1"/>
                </a:solidFill>
              </a:rPr>
              <a:t>Objective: </a:t>
            </a:r>
          </a:p>
          <a:p>
            <a:r>
              <a:rPr lang="en-US" dirty="0"/>
              <a:t>You’re an analyst for an existing company, Instacart, an online grocery store that operates through an app. Instacart already has very good sales, but they want to uncover more information about their sales patterns. Your task is to perform an initial data and exploratory analysis of some of their data in order to derive insights and suggest strategies for better segmentation based on the provided criteria.</a:t>
            </a:r>
            <a:endParaRPr lang="en-US" dirty="0">
              <a:solidFill>
                <a:schemeClr val="tx1"/>
              </a:solidFill>
            </a:endParaRP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ZA" smtClean="0"/>
              <a:pPr/>
              <a:t>15</a:t>
            </a:fld>
            <a:endParaRPr lang="en-ZA" dirty="0"/>
          </a:p>
        </p:txBody>
      </p:sp>
      <p:sp>
        <p:nvSpPr>
          <p:cNvPr id="8" name="TextBox 7">
            <a:extLst>
              <a:ext uri="{FF2B5EF4-FFF2-40B4-BE49-F238E27FC236}">
                <a16:creationId xmlns:a16="http://schemas.microsoft.com/office/drawing/2014/main" id="{126F4026-9D92-D311-6DDE-28138B8B4D62}"/>
              </a:ext>
            </a:extLst>
          </p:cNvPr>
          <p:cNvSpPr txBox="1"/>
          <p:nvPr/>
        </p:nvSpPr>
        <p:spPr>
          <a:xfrm>
            <a:off x="165436" y="2567727"/>
            <a:ext cx="6095999" cy="2123658"/>
          </a:xfrm>
          <a:prstGeom prst="rect">
            <a:avLst/>
          </a:prstGeom>
          <a:noFill/>
        </p:spPr>
        <p:txBody>
          <a:bodyPr wrap="square">
            <a:spAutoFit/>
          </a:bodyPr>
          <a:lstStyle/>
          <a:p>
            <a:r>
              <a:rPr lang="en-US" sz="1200" dirty="0"/>
              <a:t>Dataset:</a:t>
            </a:r>
          </a:p>
          <a:p>
            <a:r>
              <a:rPr lang="en-US" sz="1200" dirty="0">
                <a:hlinkClick r:id="rId2">
                  <a:extLst>
                    <a:ext uri="{A12FA001-AC4F-418D-AE19-62706E023703}">
                      <ahyp:hlinkClr xmlns:ahyp="http://schemas.microsoft.com/office/drawing/2018/hyperlinkcolor" val="tx"/>
                    </a:ext>
                  </a:extLst>
                </a:hlinkClick>
              </a:rPr>
              <a:t>Download Customer Data Set</a:t>
            </a:r>
            <a:endParaRPr lang="en-US" sz="1200" dirty="0"/>
          </a:p>
          <a:p>
            <a:r>
              <a:rPr lang="en-US" sz="1200" dirty="0"/>
              <a:t>Source: </a:t>
            </a:r>
            <a:r>
              <a:rPr lang="en-US" sz="1200" dirty="0">
                <a:hlinkClick r:id="rId3">
                  <a:extLst>
                    <a:ext uri="{A12FA001-AC4F-418D-AE19-62706E023703}">
                      <ahyp:hlinkClr xmlns:ahyp="http://schemas.microsoft.com/office/drawing/2018/hyperlinkcolor" val="tx"/>
                    </a:ext>
                  </a:extLst>
                </a:hlinkClick>
              </a:rPr>
              <a:t>www.CareerFoundry.com</a:t>
            </a:r>
            <a:endParaRPr lang="en-US" sz="1200" dirty="0"/>
          </a:p>
          <a:p>
            <a:endParaRPr lang="en-US" sz="1200" dirty="0"/>
          </a:p>
          <a:p>
            <a:r>
              <a:rPr lang="en-US" sz="1200" dirty="0">
                <a:hlinkClick r:id="rId4">
                  <a:extLst>
                    <a:ext uri="{A12FA001-AC4F-418D-AE19-62706E023703}">
                      <ahyp:hlinkClr xmlns:ahyp="http://schemas.microsoft.com/office/drawing/2018/hyperlinkcolor" val="tx"/>
                    </a:ext>
                  </a:extLst>
                </a:hlinkClick>
              </a:rPr>
              <a:t>Download Instacart Data Set</a:t>
            </a:r>
            <a:endParaRPr lang="en-US" sz="1200" dirty="0"/>
          </a:p>
          <a:p>
            <a:r>
              <a:rPr lang="en-US" sz="1200" dirty="0"/>
              <a:t>Source: </a:t>
            </a:r>
            <a:r>
              <a:rPr lang="en-US" sz="1200" dirty="0">
                <a:hlinkClick r:id="rId5">
                  <a:extLst>
                    <a:ext uri="{A12FA001-AC4F-418D-AE19-62706E023703}">
                      <ahyp:hlinkClr xmlns:ahyp="http://schemas.microsoft.com/office/drawing/2018/hyperlinkcolor" val="tx"/>
                    </a:ext>
                  </a:extLst>
                </a:hlinkClick>
              </a:rPr>
              <a:t>Kaggle</a:t>
            </a:r>
            <a:endParaRPr lang="en-US" sz="1200" dirty="0"/>
          </a:p>
          <a:p>
            <a:endParaRPr lang="en-US" sz="1200" dirty="0"/>
          </a:p>
          <a:p>
            <a:endParaRPr lang="en-US" sz="1200" dirty="0"/>
          </a:p>
          <a:p>
            <a:endParaRPr lang="en-US" sz="1200" dirty="0"/>
          </a:p>
          <a:p>
            <a:endParaRPr lang="en-US" sz="1200" dirty="0"/>
          </a:p>
          <a:p>
            <a:endParaRPr lang="en-US" sz="1200" dirty="0"/>
          </a:p>
        </p:txBody>
      </p:sp>
      <p:sp>
        <p:nvSpPr>
          <p:cNvPr id="10" name="TextBox 9">
            <a:extLst>
              <a:ext uri="{FF2B5EF4-FFF2-40B4-BE49-F238E27FC236}">
                <a16:creationId xmlns:a16="http://schemas.microsoft.com/office/drawing/2014/main" id="{6205E42C-3885-622D-6A72-412106523FF4}"/>
              </a:ext>
            </a:extLst>
          </p:cNvPr>
          <p:cNvSpPr txBox="1"/>
          <p:nvPr/>
        </p:nvSpPr>
        <p:spPr>
          <a:xfrm>
            <a:off x="240164" y="4457570"/>
            <a:ext cx="3073307" cy="1569660"/>
          </a:xfrm>
          <a:prstGeom prst="rect">
            <a:avLst/>
          </a:prstGeom>
          <a:noFill/>
        </p:spPr>
        <p:txBody>
          <a:bodyPr wrap="square">
            <a:spAutoFit/>
          </a:bodyPr>
          <a:lstStyle/>
          <a:p>
            <a:r>
              <a:rPr lang="en-US" sz="1200" dirty="0">
                <a:solidFill>
                  <a:schemeClr val="tx1">
                    <a:lumMod val="75000"/>
                    <a:lumOff val="25000"/>
                  </a:schemeClr>
                </a:solidFill>
              </a:rPr>
              <a:t>Skills Used:</a:t>
            </a:r>
          </a:p>
          <a:p>
            <a:r>
              <a:rPr lang="en-US" sz="1200" dirty="0">
                <a:solidFill>
                  <a:schemeClr val="tx1">
                    <a:lumMod val="75000"/>
                    <a:lumOff val="25000"/>
                  </a:schemeClr>
                </a:solidFill>
              </a:rPr>
              <a:t>Data Wrangling</a:t>
            </a:r>
          </a:p>
          <a:p>
            <a:r>
              <a:rPr lang="en-US" sz="1200" dirty="0">
                <a:solidFill>
                  <a:schemeClr val="tx1">
                    <a:lumMod val="75000"/>
                    <a:lumOff val="25000"/>
                  </a:schemeClr>
                </a:solidFill>
              </a:rPr>
              <a:t>Data Merging</a:t>
            </a:r>
          </a:p>
          <a:p>
            <a:r>
              <a:rPr lang="en-US" sz="1200" dirty="0">
                <a:solidFill>
                  <a:schemeClr val="tx1">
                    <a:lumMod val="75000"/>
                    <a:lumOff val="25000"/>
                  </a:schemeClr>
                </a:solidFill>
              </a:rPr>
              <a:t>Deriving Variables</a:t>
            </a:r>
          </a:p>
          <a:p>
            <a:r>
              <a:rPr lang="en-US" sz="1200" dirty="0">
                <a:solidFill>
                  <a:schemeClr val="tx1">
                    <a:lumMod val="75000"/>
                    <a:lumOff val="25000"/>
                  </a:schemeClr>
                </a:solidFill>
              </a:rPr>
              <a:t>Grouping Data</a:t>
            </a:r>
          </a:p>
          <a:p>
            <a:r>
              <a:rPr lang="en-US" sz="1200" dirty="0">
                <a:solidFill>
                  <a:schemeClr val="tx1">
                    <a:lumMod val="75000"/>
                    <a:lumOff val="25000"/>
                  </a:schemeClr>
                </a:solidFill>
              </a:rPr>
              <a:t>Aggregating Data</a:t>
            </a:r>
          </a:p>
          <a:p>
            <a:r>
              <a:rPr lang="en-US" sz="1200" dirty="0">
                <a:solidFill>
                  <a:schemeClr val="tx1">
                    <a:lumMod val="75000"/>
                    <a:lumOff val="25000"/>
                  </a:schemeClr>
                </a:solidFill>
              </a:rPr>
              <a:t>Reporting</a:t>
            </a:r>
          </a:p>
          <a:p>
            <a:r>
              <a:rPr lang="en-US" sz="1200" dirty="0">
                <a:solidFill>
                  <a:schemeClr val="tx1">
                    <a:lumMod val="75000"/>
                    <a:lumOff val="25000"/>
                  </a:schemeClr>
                </a:solidFill>
              </a:rPr>
              <a:t>Population Flow</a:t>
            </a:r>
          </a:p>
        </p:txBody>
      </p:sp>
      <p:sp>
        <p:nvSpPr>
          <p:cNvPr id="14" name="TextBox 13">
            <a:extLst>
              <a:ext uri="{FF2B5EF4-FFF2-40B4-BE49-F238E27FC236}">
                <a16:creationId xmlns:a16="http://schemas.microsoft.com/office/drawing/2014/main" id="{83BDB46B-699D-E6F8-165B-3E67539CDBDB}"/>
              </a:ext>
            </a:extLst>
          </p:cNvPr>
          <p:cNvSpPr txBox="1"/>
          <p:nvPr/>
        </p:nvSpPr>
        <p:spPr>
          <a:xfrm>
            <a:off x="4473392" y="2826409"/>
            <a:ext cx="6096000" cy="646331"/>
          </a:xfrm>
          <a:prstGeom prst="rect">
            <a:avLst/>
          </a:prstGeom>
          <a:noFill/>
        </p:spPr>
        <p:txBody>
          <a:bodyPr wrap="square">
            <a:spAutoFit/>
          </a:bodyPr>
          <a:lstStyle/>
          <a:p>
            <a:r>
              <a:rPr lang="en-US" sz="1200" dirty="0">
                <a:solidFill>
                  <a:schemeClr val="tx1">
                    <a:lumMod val="75000"/>
                    <a:lumOff val="25000"/>
                  </a:schemeClr>
                </a:solidFill>
              </a:rPr>
              <a:t>Tools Used:</a:t>
            </a:r>
          </a:p>
          <a:p>
            <a:endParaRPr lang="en-US" sz="1200" dirty="0">
              <a:solidFill>
                <a:schemeClr val="tx1">
                  <a:lumMod val="75000"/>
                  <a:lumOff val="25000"/>
                </a:schemeClr>
              </a:solidFill>
            </a:endParaRPr>
          </a:p>
          <a:p>
            <a:endParaRPr lang="en-US" sz="1200" dirty="0">
              <a:solidFill>
                <a:schemeClr val="tx1">
                  <a:lumMod val="75000"/>
                  <a:lumOff val="25000"/>
                </a:schemeClr>
              </a:solidFill>
            </a:endParaRPr>
          </a:p>
        </p:txBody>
      </p:sp>
      <p:pic>
        <p:nvPicPr>
          <p:cNvPr id="18" name="Picture 17">
            <a:extLst>
              <a:ext uri="{FF2B5EF4-FFF2-40B4-BE49-F238E27FC236}">
                <a16:creationId xmlns:a16="http://schemas.microsoft.com/office/drawing/2014/main" id="{638264EC-E90B-A5F7-EF25-9A7AF0EEA3FB}"/>
              </a:ext>
            </a:extLst>
          </p:cNvPr>
          <p:cNvPicPr>
            <a:picLocks noChangeAspect="1"/>
          </p:cNvPicPr>
          <p:nvPr/>
        </p:nvPicPr>
        <p:blipFill>
          <a:blip r:embed="rId6"/>
          <a:stretch>
            <a:fillRect/>
          </a:stretch>
        </p:blipFill>
        <p:spPr>
          <a:xfrm>
            <a:off x="4473392" y="3393718"/>
            <a:ext cx="783309" cy="482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a:extLst>
              <a:ext uri="{FF2B5EF4-FFF2-40B4-BE49-F238E27FC236}">
                <a16:creationId xmlns:a16="http://schemas.microsoft.com/office/drawing/2014/main" id="{AA59BD4B-63C1-5A70-A770-07012EA08B34}"/>
              </a:ext>
            </a:extLst>
          </p:cNvPr>
          <p:cNvPicPr>
            <a:picLocks noChangeAspect="1"/>
          </p:cNvPicPr>
          <p:nvPr/>
        </p:nvPicPr>
        <p:blipFill>
          <a:blip r:embed="rId7"/>
          <a:stretch>
            <a:fillRect/>
          </a:stretch>
        </p:blipFill>
        <p:spPr>
          <a:xfrm>
            <a:off x="5455289" y="3382134"/>
            <a:ext cx="783309" cy="491777"/>
          </a:xfrm>
          <a:prstGeom prst="roundRect">
            <a:avLst>
              <a:gd name="adj" fmla="val 8594"/>
            </a:avLst>
          </a:prstGeom>
          <a:solidFill>
            <a:srgbClr val="FFFFFF">
              <a:shade val="85000"/>
            </a:srgbClr>
          </a:solidFill>
          <a:ln>
            <a:noFill/>
          </a:ln>
          <a:effectLst>
            <a:reflection blurRad="6350" stA="52000" endA="300" endPos="35000" dir="5400000" sy="-100000" algn="bl" rotWithShape="0"/>
          </a:effectLst>
        </p:spPr>
      </p:pic>
      <p:pic>
        <p:nvPicPr>
          <p:cNvPr id="13" name="Picture 12">
            <a:extLst>
              <a:ext uri="{FF2B5EF4-FFF2-40B4-BE49-F238E27FC236}">
                <a16:creationId xmlns:a16="http://schemas.microsoft.com/office/drawing/2014/main" id="{A0DDB307-8105-58F6-48D1-9FFD9C1E12C9}"/>
              </a:ext>
            </a:extLst>
          </p:cNvPr>
          <p:cNvPicPr>
            <a:picLocks noChangeAspect="1"/>
          </p:cNvPicPr>
          <p:nvPr/>
        </p:nvPicPr>
        <p:blipFill>
          <a:blip r:embed="rId8"/>
          <a:stretch>
            <a:fillRect/>
          </a:stretch>
        </p:blipFill>
        <p:spPr>
          <a:xfrm>
            <a:off x="5455288" y="4081487"/>
            <a:ext cx="783309" cy="4917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28" name="Picture 4" descr="Anaconda (Python distribution) - Wikipedia">
            <a:extLst>
              <a:ext uri="{FF2B5EF4-FFF2-40B4-BE49-F238E27FC236}">
                <a16:creationId xmlns:a16="http://schemas.microsoft.com/office/drawing/2014/main" id="{86BF0FBE-5163-E688-601B-8403890087C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73392" y="4097321"/>
            <a:ext cx="783309" cy="482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71930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752486-6129-655C-3C69-1EA3CBDD9A4D}"/>
              </a:ext>
            </a:extLst>
          </p:cNvPr>
          <p:cNvPicPr>
            <a:picLocks noChangeAspect="1"/>
          </p:cNvPicPr>
          <p:nvPr/>
        </p:nvPicPr>
        <p:blipFill>
          <a:blip r:embed="rId2"/>
          <a:stretch>
            <a:fillRect/>
          </a:stretch>
        </p:blipFill>
        <p:spPr>
          <a:xfrm>
            <a:off x="831273" y="447846"/>
            <a:ext cx="4451873" cy="3481901"/>
          </a:xfrm>
          <a:prstGeom prst="roundRect">
            <a:avLst>
              <a:gd name="adj" fmla="val 8594"/>
            </a:avLst>
          </a:prstGeom>
          <a:solidFill>
            <a:srgbClr val="FFFFFF">
              <a:shade val="85000"/>
            </a:srgbClr>
          </a:solidFill>
          <a:ln>
            <a:noFill/>
          </a:ln>
          <a:effectLst/>
        </p:spPr>
      </p:pic>
      <p:pic>
        <p:nvPicPr>
          <p:cNvPr id="4" name="Picture 3">
            <a:extLst>
              <a:ext uri="{FF2B5EF4-FFF2-40B4-BE49-F238E27FC236}">
                <a16:creationId xmlns:a16="http://schemas.microsoft.com/office/drawing/2014/main" id="{40AAB5BE-55F1-BD03-3D71-FA523E3EFDBA}"/>
              </a:ext>
            </a:extLst>
          </p:cNvPr>
          <p:cNvPicPr>
            <a:picLocks noChangeAspect="1"/>
          </p:cNvPicPr>
          <p:nvPr/>
        </p:nvPicPr>
        <p:blipFill>
          <a:blip r:embed="rId3"/>
          <a:stretch>
            <a:fillRect/>
          </a:stretch>
        </p:blipFill>
        <p:spPr>
          <a:xfrm>
            <a:off x="6508955" y="460438"/>
            <a:ext cx="4451873" cy="3469309"/>
          </a:xfrm>
          <a:prstGeom prst="roundRect">
            <a:avLst>
              <a:gd name="adj" fmla="val 8594"/>
            </a:avLst>
          </a:prstGeom>
          <a:solidFill>
            <a:srgbClr val="FFFFFF">
              <a:shade val="85000"/>
            </a:srgbClr>
          </a:solidFill>
          <a:ln>
            <a:noFill/>
          </a:ln>
          <a:effectLst/>
        </p:spPr>
      </p:pic>
      <p:sp>
        <p:nvSpPr>
          <p:cNvPr id="5" name="TextBox 4">
            <a:extLst>
              <a:ext uri="{FF2B5EF4-FFF2-40B4-BE49-F238E27FC236}">
                <a16:creationId xmlns:a16="http://schemas.microsoft.com/office/drawing/2014/main" id="{07580C75-0991-1D8D-0D49-22C3C5A1CE75}"/>
              </a:ext>
            </a:extLst>
          </p:cNvPr>
          <p:cNvSpPr txBox="1"/>
          <p:nvPr/>
        </p:nvSpPr>
        <p:spPr>
          <a:xfrm>
            <a:off x="1061884" y="4190320"/>
            <a:ext cx="9045678" cy="1569660"/>
          </a:xfrm>
          <a:prstGeom prst="rect">
            <a:avLst/>
          </a:prstGeom>
          <a:noFill/>
        </p:spPr>
        <p:txBody>
          <a:bodyPr wrap="square">
            <a:spAutoFit/>
          </a:bodyPr>
          <a:lstStyle/>
          <a:p>
            <a:r>
              <a:rPr lang="en-US" sz="1200" dirty="0">
                <a:solidFill>
                  <a:schemeClr val="tx1"/>
                </a:solidFill>
              </a:rPr>
              <a:t>These 2 visuals help to give us a good understanding of the busiest times of the day and the busiest days for Instacart. </a:t>
            </a:r>
          </a:p>
          <a:p>
            <a:endParaRPr lang="en-US" sz="1200" dirty="0"/>
          </a:p>
          <a:p>
            <a:r>
              <a:rPr lang="en-US" sz="1200" dirty="0">
                <a:solidFill>
                  <a:schemeClr val="tx1"/>
                </a:solidFill>
              </a:rPr>
              <a:t>Busiest Hours of the Day: </a:t>
            </a:r>
          </a:p>
          <a:p>
            <a:r>
              <a:rPr lang="en-US" sz="1200" dirty="0"/>
              <a:t>10 AM – 11 AM &amp; 2 PM -3 PM</a:t>
            </a:r>
          </a:p>
          <a:p>
            <a:endParaRPr lang="en-US" sz="1200" dirty="0">
              <a:solidFill>
                <a:schemeClr val="tx1"/>
              </a:solidFill>
            </a:endParaRPr>
          </a:p>
          <a:p>
            <a:r>
              <a:rPr lang="en-US" sz="1200" dirty="0">
                <a:solidFill>
                  <a:schemeClr val="tx1"/>
                </a:solidFill>
              </a:rPr>
              <a:t>Busiest D</a:t>
            </a:r>
            <a:r>
              <a:rPr lang="en-US" sz="1200" dirty="0"/>
              <a:t>ay of the Week: </a:t>
            </a:r>
          </a:p>
          <a:p>
            <a:endParaRPr lang="en-US" sz="1200" dirty="0">
              <a:solidFill>
                <a:schemeClr val="tx1"/>
              </a:solidFill>
            </a:endParaRPr>
          </a:p>
          <a:p>
            <a:r>
              <a:rPr lang="en-US" sz="1200" dirty="0"/>
              <a:t>Monday is by far the busiest day for Instacart.</a:t>
            </a:r>
            <a:endParaRPr lang="en-US" sz="1200" dirty="0">
              <a:solidFill>
                <a:schemeClr val="tx1"/>
              </a:solidFill>
            </a:endParaRPr>
          </a:p>
        </p:txBody>
      </p:sp>
    </p:spTree>
    <p:extLst>
      <p:ext uri="{BB962C8B-B14F-4D97-AF65-F5344CB8AC3E}">
        <p14:creationId xmlns:p14="http://schemas.microsoft.com/office/powerpoint/2010/main" val="1302233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653241D-7B21-92E7-F0AB-00BA1865F6FC}"/>
              </a:ext>
            </a:extLst>
          </p:cNvPr>
          <p:cNvPicPr>
            <a:picLocks noChangeAspect="1"/>
          </p:cNvPicPr>
          <p:nvPr/>
        </p:nvPicPr>
        <p:blipFill>
          <a:blip r:embed="rId2"/>
          <a:stretch>
            <a:fillRect/>
          </a:stretch>
        </p:blipFill>
        <p:spPr>
          <a:xfrm>
            <a:off x="606146" y="141081"/>
            <a:ext cx="3179273" cy="3516519"/>
          </a:xfrm>
          <a:prstGeom prst="roundRect">
            <a:avLst>
              <a:gd name="adj" fmla="val 8594"/>
            </a:avLst>
          </a:prstGeom>
          <a:solidFill>
            <a:srgbClr val="FFFFFF">
              <a:shade val="85000"/>
            </a:srgbClr>
          </a:solidFill>
          <a:ln>
            <a:noFill/>
          </a:ln>
          <a:effectLst/>
        </p:spPr>
      </p:pic>
      <p:pic>
        <p:nvPicPr>
          <p:cNvPr id="17" name="Picture 16">
            <a:extLst>
              <a:ext uri="{FF2B5EF4-FFF2-40B4-BE49-F238E27FC236}">
                <a16:creationId xmlns:a16="http://schemas.microsoft.com/office/drawing/2014/main" id="{B7E4A39D-734B-14DD-E5F0-D1746AACFBBD}"/>
              </a:ext>
            </a:extLst>
          </p:cNvPr>
          <p:cNvPicPr>
            <a:picLocks noChangeAspect="1"/>
          </p:cNvPicPr>
          <p:nvPr/>
        </p:nvPicPr>
        <p:blipFill>
          <a:blip r:embed="rId3"/>
          <a:stretch>
            <a:fillRect/>
          </a:stretch>
        </p:blipFill>
        <p:spPr>
          <a:xfrm>
            <a:off x="4198927" y="141081"/>
            <a:ext cx="3582354" cy="3516519"/>
          </a:xfrm>
          <a:prstGeom prst="roundRect">
            <a:avLst>
              <a:gd name="adj" fmla="val 8594"/>
            </a:avLst>
          </a:prstGeom>
          <a:solidFill>
            <a:srgbClr val="FFFFFF">
              <a:shade val="85000"/>
            </a:srgbClr>
          </a:solidFill>
          <a:ln>
            <a:noFill/>
          </a:ln>
          <a:effectLst/>
        </p:spPr>
      </p:pic>
      <p:pic>
        <p:nvPicPr>
          <p:cNvPr id="18" name="Picture 17">
            <a:extLst>
              <a:ext uri="{FF2B5EF4-FFF2-40B4-BE49-F238E27FC236}">
                <a16:creationId xmlns:a16="http://schemas.microsoft.com/office/drawing/2014/main" id="{8861568C-673C-069C-0FDE-00AF513C1BE2}"/>
              </a:ext>
            </a:extLst>
          </p:cNvPr>
          <p:cNvPicPr>
            <a:picLocks noChangeAspect="1"/>
          </p:cNvPicPr>
          <p:nvPr/>
        </p:nvPicPr>
        <p:blipFill>
          <a:blip r:embed="rId4"/>
          <a:stretch>
            <a:fillRect/>
          </a:stretch>
        </p:blipFill>
        <p:spPr>
          <a:xfrm>
            <a:off x="8279314" y="141081"/>
            <a:ext cx="3582354" cy="3516519"/>
          </a:xfrm>
          <a:prstGeom prst="roundRect">
            <a:avLst>
              <a:gd name="adj" fmla="val 8594"/>
            </a:avLst>
          </a:prstGeom>
          <a:solidFill>
            <a:srgbClr val="FFFFFF">
              <a:shade val="85000"/>
            </a:srgbClr>
          </a:solidFill>
          <a:ln>
            <a:noFill/>
          </a:ln>
          <a:effectLst/>
        </p:spPr>
      </p:pic>
      <p:sp>
        <p:nvSpPr>
          <p:cNvPr id="21" name="TextBox 20">
            <a:extLst>
              <a:ext uri="{FF2B5EF4-FFF2-40B4-BE49-F238E27FC236}">
                <a16:creationId xmlns:a16="http://schemas.microsoft.com/office/drawing/2014/main" id="{ED55913B-0DF6-7DE6-AB8F-7998ECE867FD}"/>
              </a:ext>
            </a:extLst>
          </p:cNvPr>
          <p:cNvSpPr txBox="1"/>
          <p:nvPr/>
        </p:nvSpPr>
        <p:spPr>
          <a:xfrm>
            <a:off x="1320711" y="3987262"/>
            <a:ext cx="9550577" cy="1938992"/>
          </a:xfrm>
          <a:prstGeom prst="rect">
            <a:avLst/>
          </a:prstGeom>
          <a:noFill/>
        </p:spPr>
        <p:txBody>
          <a:bodyPr wrap="square">
            <a:spAutoFit/>
          </a:bodyPr>
          <a:lstStyle/>
          <a:p>
            <a:r>
              <a:rPr lang="en-US" sz="1200" dirty="0">
                <a:solidFill>
                  <a:schemeClr val="tx1"/>
                </a:solidFill>
              </a:rPr>
              <a:t>These visuals help us breakdown which departments have the most sales. Produce(4), Dairy/Eggs(16) and Snacks(19). </a:t>
            </a:r>
          </a:p>
          <a:p>
            <a:endParaRPr lang="en-US" sz="1200" dirty="0"/>
          </a:p>
          <a:p>
            <a:r>
              <a:rPr lang="en-US" sz="1200" dirty="0">
                <a:solidFill>
                  <a:schemeClr val="tx1"/>
                </a:solidFill>
              </a:rPr>
              <a:t>The next charts break down the ordering habits of the different types of customers that Instacart has Loyal, New and Regular Customer, and if that customer is considered a High or Low Spender with Instacart.  From this chart we can see that half or 51% of Instacart's clients are regular customers that spend a low amount. The second highest category is loyal customers that spend low amounts at almost 29% of there customer base. </a:t>
            </a:r>
          </a:p>
          <a:p>
            <a:endParaRPr lang="en-US" sz="1200" dirty="0"/>
          </a:p>
          <a:p>
            <a:r>
              <a:rPr lang="en-US" sz="1200" dirty="0">
                <a:solidFill>
                  <a:schemeClr val="tx1"/>
                </a:solidFill>
              </a:rPr>
              <a:t>The 3</a:t>
            </a:r>
            <a:r>
              <a:rPr lang="en-US" sz="1200" baseline="30000" dirty="0">
                <a:solidFill>
                  <a:schemeClr val="tx1"/>
                </a:solidFill>
              </a:rPr>
              <a:t>rd</a:t>
            </a:r>
            <a:r>
              <a:rPr lang="en-US" sz="1200" dirty="0">
                <a:solidFill>
                  <a:schemeClr val="tx1"/>
                </a:solidFill>
              </a:rPr>
              <a:t> chart to the far right helps to organize customers marital status with how loyal they are to Instacart. Based on this chart the older the client and if they are married the more likely they are to be loyal customers. This makes sense because married couples typically have dual incomes and more need to groceries versus dining out at restaurants, because they have a </a:t>
            </a:r>
            <a:r>
              <a:rPr lang="en-US" sz="1200" dirty="0"/>
              <a:t>higher probability of having children. </a:t>
            </a:r>
            <a:endParaRPr lang="en-US" sz="1200" dirty="0">
              <a:solidFill>
                <a:schemeClr val="tx1"/>
              </a:solidFill>
            </a:endParaRPr>
          </a:p>
        </p:txBody>
      </p:sp>
    </p:spTree>
    <p:extLst>
      <p:ext uri="{BB962C8B-B14F-4D97-AF65-F5344CB8AC3E}">
        <p14:creationId xmlns:p14="http://schemas.microsoft.com/office/powerpoint/2010/main" val="384678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653241D-7B21-92E7-F0AB-00BA1865F6FC}"/>
              </a:ext>
            </a:extLst>
          </p:cNvPr>
          <p:cNvPicPr>
            <a:picLocks noChangeAspect="1"/>
          </p:cNvPicPr>
          <p:nvPr/>
        </p:nvPicPr>
        <p:blipFill>
          <a:blip r:embed="rId2"/>
          <a:stretch>
            <a:fillRect/>
          </a:stretch>
        </p:blipFill>
        <p:spPr>
          <a:xfrm>
            <a:off x="606146" y="141081"/>
            <a:ext cx="3179273" cy="3516519"/>
          </a:xfrm>
          <a:prstGeom prst="roundRect">
            <a:avLst>
              <a:gd name="adj" fmla="val 8594"/>
            </a:avLst>
          </a:prstGeom>
          <a:solidFill>
            <a:srgbClr val="FFFFFF">
              <a:shade val="85000"/>
            </a:srgbClr>
          </a:solidFill>
          <a:ln>
            <a:noFill/>
          </a:ln>
          <a:effectLst/>
        </p:spPr>
      </p:pic>
      <p:pic>
        <p:nvPicPr>
          <p:cNvPr id="17" name="Picture 16">
            <a:extLst>
              <a:ext uri="{FF2B5EF4-FFF2-40B4-BE49-F238E27FC236}">
                <a16:creationId xmlns:a16="http://schemas.microsoft.com/office/drawing/2014/main" id="{B7E4A39D-734B-14DD-E5F0-D1746AACFBBD}"/>
              </a:ext>
            </a:extLst>
          </p:cNvPr>
          <p:cNvPicPr>
            <a:picLocks noChangeAspect="1"/>
          </p:cNvPicPr>
          <p:nvPr/>
        </p:nvPicPr>
        <p:blipFill>
          <a:blip r:embed="rId3"/>
          <a:stretch>
            <a:fillRect/>
          </a:stretch>
        </p:blipFill>
        <p:spPr>
          <a:xfrm>
            <a:off x="4198927" y="141081"/>
            <a:ext cx="3582354" cy="3516519"/>
          </a:xfrm>
          <a:prstGeom prst="roundRect">
            <a:avLst>
              <a:gd name="adj" fmla="val 8594"/>
            </a:avLst>
          </a:prstGeom>
          <a:solidFill>
            <a:srgbClr val="FFFFFF">
              <a:shade val="85000"/>
            </a:srgbClr>
          </a:solidFill>
          <a:ln>
            <a:noFill/>
          </a:ln>
          <a:effectLst/>
        </p:spPr>
      </p:pic>
      <p:pic>
        <p:nvPicPr>
          <p:cNvPr id="18" name="Picture 17">
            <a:extLst>
              <a:ext uri="{FF2B5EF4-FFF2-40B4-BE49-F238E27FC236}">
                <a16:creationId xmlns:a16="http://schemas.microsoft.com/office/drawing/2014/main" id="{8861568C-673C-069C-0FDE-00AF513C1BE2}"/>
              </a:ext>
            </a:extLst>
          </p:cNvPr>
          <p:cNvPicPr>
            <a:picLocks noChangeAspect="1"/>
          </p:cNvPicPr>
          <p:nvPr/>
        </p:nvPicPr>
        <p:blipFill>
          <a:blip r:embed="rId4"/>
          <a:stretch>
            <a:fillRect/>
          </a:stretch>
        </p:blipFill>
        <p:spPr>
          <a:xfrm>
            <a:off x="8279314" y="141081"/>
            <a:ext cx="3582354" cy="3516519"/>
          </a:xfrm>
          <a:prstGeom prst="roundRect">
            <a:avLst>
              <a:gd name="adj" fmla="val 8594"/>
            </a:avLst>
          </a:prstGeom>
          <a:solidFill>
            <a:srgbClr val="FFFFFF">
              <a:shade val="85000"/>
            </a:srgbClr>
          </a:solidFill>
          <a:ln>
            <a:noFill/>
          </a:ln>
          <a:effectLst/>
        </p:spPr>
      </p:pic>
      <p:sp>
        <p:nvSpPr>
          <p:cNvPr id="21" name="TextBox 20">
            <a:extLst>
              <a:ext uri="{FF2B5EF4-FFF2-40B4-BE49-F238E27FC236}">
                <a16:creationId xmlns:a16="http://schemas.microsoft.com/office/drawing/2014/main" id="{ED55913B-0DF6-7DE6-AB8F-7998ECE867FD}"/>
              </a:ext>
            </a:extLst>
          </p:cNvPr>
          <p:cNvSpPr txBox="1"/>
          <p:nvPr/>
        </p:nvSpPr>
        <p:spPr>
          <a:xfrm>
            <a:off x="1320711" y="3987262"/>
            <a:ext cx="9550577" cy="1938992"/>
          </a:xfrm>
          <a:prstGeom prst="rect">
            <a:avLst/>
          </a:prstGeom>
          <a:noFill/>
        </p:spPr>
        <p:txBody>
          <a:bodyPr wrap="square">
            <a:spAutoFit/>
          </a:bodyPr>
          <a:lstStyle/>
          <a:p>
            <a:r>
              <a:rPr lang="en-US" sz="1200" dirty="0">
                <a:solidFill>
                  <a:schemeClr val="tx1"/>
                </a:solidFill>
              </a:rPr>
              <a:t>These visuals help us breakdown which departments have the most sales. Produce(4), Dairy/Eggs(16) and Snacks(19). </a:t>
            </a:r>
          </a:p>
          <a:p>
            <a:endParaRPr lang="en-US" sz="1200" dirty="0"/>
          </a:p>
          <a:p>
            <a:r>
              <a:rPr lang="en-US" sz="1200" dirty="0">
                <a:solidFill>
                  <a:schemeClr val="tx1"/>
                </a:solidFill>
              </a:rPr>
              <a:t>The next charts break down the ordering habits of the different types of customers that Instacart has Loyal, New and Regular Customer, and if that customer is considered a High or Low Spender with Instacart.  From this chart we can see that half or 51% of Instacart's clients are regular customers that spend a low amount. The second highest category is loyal customers that spend low amounts at almost 29% of there customer base. </a:t>
            </a:r>
          </a:p>
          <a:p>
            <a:endParaRPr lang="en-US" sz="1200" dirty="0"/>
          </a:p>
          <a:p>
            <a:r>
              <a:rPr lang="en-US" sz="1200" dirty="0">
                <a:solidFill>
                  <a:schemeClr val="tx1"/>
                </a:solidFill>
              </a:rPr>
              <a:t>The 3</a:t>
            </a:r>
            <a:r>
              <a:rPr lang="en-US" sz="1200" baseline="30000" dirty="0">
                <a:solidFill>
                  <a:schemeClr val="tx1"/>
                </a:solidFill>
              </a:rPr>
              <a:t>rd</a:t>
            </a:r>
            <a:r>
              <a:rPr lang="en-US" sz="1200" dirty="0">
                <a:solidFill>
                  <a:schemeClr val="tx1"/>
                </a:solidFill>
              </a:rPr>
              <a:t> chart to the far right helps to organize customers marital status with how loyal they are to Instacart. Based on this chart the older the client and if they are married the more likely they are to be loyal customers. This makes sense because married couples typically have dual incomes and more need to groceries versus dining out at restaurants, because they have a </a:t>
            </a:r>
            <a:r>
              <a:rPr lang="en-US" sz="1200" dirty="0"/>
              <a:t>higher probability of having children. </a:t>
            </a:r>
            <a:endParaRPr lang="en-US" sz="1200" dirty="0">
              <a:solidFill>
                <a:schemeClr val="tx1"/>
              </a:solidFill>
            </a:endParaRPr>
          </a:p>
        </p:txBody>
      </p:sp>
    </p:spTree>
    <p:extLst>
      <p:ext uri="{BB962C8B-B14F-4D97-AF65-F5344CB8AC3E}">
        <p14:creationId xmlns:p14="http://schemas.microsoft.com/office/powerpoint/2010/main" val="3723099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269968" y="-662782"/>
            <a:ext cx="3171825" cy="1325563"/>
          </a:xfrm>
        </p:spPr>
        <p:txBody>
          <a:bodyPr/>
          <a:lstStyle/>
          <a:p>
            <a:r>
              <a:rPr lang="en-ZA" dirty="0"/>
              <a:t>NYC Yellow </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3123790" y="177103"/>
            <a:ext cx="7202854" cy="1146890"/>
          </a:xfrm>
        </p:spPr>
        <p:txBody>
          <a:bodyPr>
            <a:normAutofit/>
          </a:bodyPr>
          <a:lstStyle/>
          <a:p>
            <a:r>
              <a:rPr lang="en-US" sz="1200" dirty="0">
                <a:solidFill>
                  <a:schemeClr val="tx1"/>
                </a:solidFill>
              </a:rPr>
              <a:t>Objective: </a:t>
            </a:r>
          </a:p>
          <a:p>
            <a:r>
              <a:rPr lang="en-US" sz="1200" dirty="0">
                <a:solidFill>
                  <a:schemeClr val="tx1"/>
                </a:solidFill>
              </a:rPr>
              <a:t>Utilize the companies' data to increase revenue</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ZA" smtClean="0"/>
              <a:pPr/>
              <a:t>19</a:t>
            </a:fld>
            <a:endParaRPr lang="en-ZA" dirty="0"/>
          </a:p>
        </p:txBody>
      </p:sp>
      <p:sp>
        <p:nvSpPr>
          <p:cNvPr id="8" name="TextBox 7">
            <a:extLst>
              <a:ext uri="{FF2B5EF4-FFF2-40B4-BE49-F238E27FC236}">
                <a16:creationId xmlns:a16="http://schemas.microsoft.com/office/drawing/2014/main" id="{126F4026-9D92-D311-6DDE-28138B8B4D62}"/>
              </a:ext>
            </a:extLst>
          </p:cNvPr>
          <p:cNvSpPr txBox="1"/>
          <p:nvPr/>
        </p:nvSpPr>
        <p:spPr>
          <a:xfrm>
            <a:off x="190500" y="776568"/>
            <a:ext cx="1937292" cy="1754326"/>
          </a:xfrm>
          <a:prstGeom prst="rect">
            <a:avLst/>
          </a:prstGeom>
          <a:noFill/>
        </p:spPr>
        <p:txBody>
          <a:bodyPr wrap="square">
            <a:spAutoFit/>
          </a:bodyPr>
          <a:lstStyle/>
          <a:p>
            <a:r>
              <a:rPr lang="en-US" sz="1200" dirty="0">
                <a:solidFill>
                  <a:schemeClr val="tx1">
                    <a:lumMod val="75000"/>
                    <a:lumOff val="25000"/>
                  </a:schemeClr>
                </a:solidFill>
              </a:rPr>
              <a:t>Dataset: </a:t>
            </a:r>
          </a:p>
          <a:p>
            <a:r>
              <a:rPr lang="en-US" sz="1200" dirty="0">
                <a:hlinkClick r:id="rId2"/>
              </a:rPr>
              <a:t>NYC Yellow Cab Data</a:t>
            </a:r>
            <a:endParaRPr lang="en-US" sz="1200" dirty="0"/>
          </a:p>
          <a:p>
            <a:endParaRPr lang="en-US" sz="1200" dirty="0">
              <a:solidFill>
                <a:schemeClr val="tx1">
                  <a:lumMod val="75000"/>
                  <a:lumOff val="25000"/>
                </a:schemeClr>
              </a:solidFill>
            </a:endParaRPr>
          </a:p>
          <a:p>
            <a:r>
              <a:rPr lang="en-US" sz="1200" dirty="0" err="1">
                <a:solidFill>
                  <a:schemeClr val="tx1">
                    <a:lumMod val="75000"/>
                    <a:lumOff val="25000"/>
                  </a:schemeClr>
                </a:solidFill>
              </a:rPr>
              <a:t>Github</a:t>
            </a:r>
            <a:r>
              <a:rPr lang="en-US" sz="1200" dirty="0">
                <a:solidFill>
                  <a:schemeClr val="tx1">
                    <a:lumMod val="75000"/>
                    <a:lumOff val="25000"/>
                  </a:schemeClr>
                </a:solidFill>
              </a:rPr>
              <a:t>:</a:t>
            </a:r>
          </a:p>
          <a:p>
            <a:endParaRPr lang="en-US" sz="1200" dirty="0">
              <a:solidFill>
                <a:schemeClr val="tx1">
                  <a:lumMod val="75000"/>
                  <a:lumOff val="25000"/>
                </a:schemeClr>
              </a:solidFill>
            </a:endParaRPr>
          </a:p>
          <a:p>
            <a:r>
              <a:rPr lang="en-US" sz="1200" dirty="0">
                <a:solidFill>
                  <a:schemeClr val="tx1">
                    <a:lumMod val="75000"/>
                    <a:lumOff val="25000"/>
                  </a:schemeClr>
                </a:solidFill>
                <a:hlinkClick r:id="rId3"/>
              </a:rPr>
              <a:t>https://github.com/MarkStaffordReece/NYC-Yellow</a:t>
            </a:r>
            <a:endParaRPr lang="en-US" sz="1200" dirty="0">
              <a:solidFill>
                <a:schemeClr val="tx1">
                  <a:lumMod val="75000"/>
                  <a:lumOff val="25000"/>
                </a:schemeClr>
              </a:solidFill>
            </a:endParaRPr>
          </a:p>
          <a:p>
            <a:endParaRPr lang="en-US" sz="1200" dirty="0">
              <a:solidFill>
                <a:schemeClr val="tx1">
                  <a:lumMod val="75000"/>
                  <a:lumOff val="25000"/>
                </a:schemeClr>
              </a:solidFill>
            </a:endParaRPr>
          </a:p>
          <a:p>
            <a:endParaRPr lang="en-US" sz="1200" dirty="0">
              <a:solidFill>
                <a:schemeClr val="tx1">
                  <a:lumMod val="75000"/>
                  <a:lumOff val="25000"/>
                </a:schemeClr>
              </a:solidFill>
            </a:endParaRPr>
          </a:p>
        </p:txBody>
      </p:sp>
      <p:sp>
        <p:nvSpPr>
          <p:cNvPr id="10" name="TextBox 9">
            <a:extLst>
              <a:ext uri="{FF2B5EF4-FFF2-40B4-BE49-F238E27FC236}">
                <a16:creationId xmlns:a16="http://schemas.microsoft.com/office/drawing/2014/main" id="{6205E42C-3885-622D-6A72-412106523FF4}"/>
              </a:ext>
            </a:extLst>
          </p:cNvPr>
          <p:cNvSpPr txBox="1"/>
          <p:nvPr/>
        </p:nvSpPr>
        <p:spPr>
          <a:xfrm>
            <a:off x="269968" y="2779306"/>
            <a:ext cx="6893560" cy="4893647"/>
          </a:xfrm>
          <a:prstGeom prst="rect">
            <a:avLst/>
          </a:prstGeom>
          <a:noFill/>
        </p:spPr>
        <p:txBody>
          <a:bodyPr wrap="square" numCol="2">
            <a:spAutoFit/>
          </a:bodyPr>
          <a:lstStyle/>
          <a:p>
            <a:r>
              <a:rPr lang="en-US" sz="1200" dirty="0">
                <a:solidFill>
                  <a:schemeClr val="tx1">
                    <a:lumMod val="75000"/>
                    <a:lumOff val="25000"/>
                  </a:schemeClr>
                </a:solidFill>
              </a:rPr>
              <a:t>Skills Used:</a:t>
            </a:r>
          </a:p>
          <a:p>
            <a:endParaRPr lang="en-US" sz="1200" dirty="0">
              <a:solidFill>
                <a:schemeClr val="tx1">
                  <a:lumMod val="75000"/>
                  <a:lumOff val="25000"/>
                </a:schemeClr>
              </a:solidFill>
            </a:endParaRPr>
          </a:p>
          <a:p>
            <a:pPr marL="285750" indent="-285750">
              <a:buFont typeface="Arial" panose="020B0604020202020204" pitchFamily="34" charset="0"/>
              <a:buChar char="•"/>
            </a:pPr>
            <a:r>
              <a:rPr lang="en-US" sz="1200" dirty="0">
                <a:solidFill>
                  <a:schemeClr val="tx1">
                    <a:lumMod val="75000"/>
                    <a:lumOff val="25000"/>
                  </a:schemeClr>
                </a:solidFill>
              </a:rPr>
              <a:t>Grouping Data</a:t>
            </a:r>
          </a:p>
          <a:p>
            <a:pPr marL="285750" indent="-285750">
              <a:buFont typeface="Arial" panose="020B0604020202020204" pitchFamily="34" charset="0"/>
              <a:buChar char="•"/>
            </a:pPr>
            <a:r>
              <a:rPr lang="en-US" sz="1200" dirty="0">
                <a:solidFill>
                  <a:schemeClr val="tx1">
                    <a:lumMod val="75000"/>
                    <a:lumOff val="25000"/>
                  </a:schemeClr>
                </a:solidFill>
              </a:rPr>
              <a:t>Summarizing Data</a:t>
            </a:r>
          </a:p>
          <a:p>
            <a:pPr marL="285750" indent="-285750">
              <a:buFont typeface="Arial" panose="020B0604020202020204" pitchFamily="34" charset="0"/>
              <a:buChar char="•"/>
            </a:pPr>
            <a:r>
              <a:rPr lang="en-US" sz="1200" dirty="0">
                <a:solidFill>
                  <a:schemeClr val="tx1">
                    <a:lumMod val="75000"/>
                    <a:lumOff val="25000"/>
                  </a:schemeClr>
                </a:solidFill>
              </a:rPr>
              <a:t>Descriptive Analysis</a:t>
            </a:r>
          </a:p>
          <a:p>
            <a:pPr marL="285750" indent="-285750">
              <a:buFont typeface="Arial" panose="020B0604020202020204" pitchFamily="34" charset="0"/>
              <a:buChar char="•"/>
            </a:pPr>
            <a:r>
              <a:rPr lang="en-US" sz="1200" dirty="0">
                <a:solidFill>
                  <a:schemeClr val="tx1">
                    <a:lumMod val="75000"/>
                    <a:lumOff val="25000"/>
                  </a:schemeClr>
                </a:solidFill>
              </a:rPr>
              <a:t>Visualizing Data in Excel</a:t>
            </a:r>
          </a:p>
          <a:p>
            <a:pPr marL="285750" indent="-285750">
              <a:buFont typeface="Arial" panose="020B0604020202020204" pitchFamily="34" charset="0"/>
              <a:buChar char="•"/>
            </a:pPr>
            <a:r>
              <a:rPr lang="en-US" sz="1200" dirty="0">
                <a:solidFill>
                  <a:schemeClr val="tx1">
                    <a:lumMod val="75000"/>
                    <a:lumOff val="25000"/>
                  </a:schemeClr>
                </a:solidFill>
              </a:rPr>
              <a:t>Cleaning and Formatting Data</a:t>
            </a:r>
          </a:p>
          <a:p>
            <a:pPr marL="285750" indent="-285750">
              <a:buFont typeface="Arial" panose="020B0604020202020204" pitchFamily="34" charset="0"/>
              <a:buChar char="•"/>
            </a:pPr>
            <a:r>
              <a:rPr lang="en-US" sz="1200" dirty="0">
                <a:solidFill>
                  <a:schemeClr val="tx1">
                    <a:lumMod val="75000"/>
                    <a:lumOff val="25000"/>
                  </a:schemeClr>
                </a:solidFill>
              </a:rPr>
              <a:t>Data Wrangling</a:t>
            </a:r>
          </a:p>
          <a:p>
            <a:pPr marL="285750" indent="-285750">
              <a:buFont typeface="Arial" panose="020B0604020202020204" pitchFamily="34" charset="0"/>
              <a:buChar char="•"/>
            </a:pPr>
            <a:r>
              <a:rPr lang="en-US" sz="1200" dirty="0">
                <a:solidFill>
                  <a:schemeClr val="tx1">
                    <a:lumMod val="75000"/>
                    <a:lumOff val="25000"/>
                  </a:schemeClr>
                </a:solidFill>
              </a:rPr>
              <a:t>Data merging, concatenating, </a:t>
            </a:r>
          </a:p>
          <a:p>
            <a:pPr marL="285750" indent="-285750">
              <a:buFont typeface="Arial" panose="020B0604020202020204" pitchFamily="34" charset="0"/>
              <a:buChar char="•"/>
            </a:pPr>
            <a:r>
              <a:rPr lang="en-US" sz="1200" dirty="0">
                <a:solidFill>
                  <a:schemeClr val="tx1">
                    <a:lumMod val="75000"/>
                    <a:lumOff val="25000"/>
                  </a:schemeClr>
                </a:solidFill>
              </a:rPr>
              <a:t>Aggregating Data</a:t>
            </a:r>
          </a:p>
          <a:p>
            <a:pPr marL="285750" indent="-285750">
              <a:buFont typeface="Arial" panose="020B0604020202020204" pitchFamily="34" charset="0"/>
              <a:buChar char="•"/>
            </a:pPr>
            <a:r>
              <a:rPr lang="en-US" sz="1200" dirty="0">
                <a:solidFill>
                  <a:schemeClr val="tx1">
                    <a:lumMod val="75000"/>
                    <a:lumOff val="25000"/>
                  </a:schemeClr>
                </a:solidFill>
              </a:rPr>
              <a:t>Geospatial Data</a:t>
            </a:r>
          </a:p>
          <a:p>
            <a:pPr marL="285750" indent="-285750">
              <a:buFont typeface="Arial" panose="020B0604020202020204" pitchFamily="34" charset="0"/>
              <a:buChar char="•"/>
            </a:pPr>
            <a:r>
              <a:rPr lang="en-US" sz="1200" dirty="0">
                <a:solidFill>
                  <a:schemeClr val="tx1">
                    <a:lumMod val="75000"/>
                    <a:lumOff val="25000"/>
                  </a:schemeClr>
                </a:solidFill>
              </a:rPr>
              <a:t>Translating Business Requirements</a:t>
            </a:r>
          </a:p>
          <a:p>
            <a:pPr marL="285750" indent="-285750">
              <a:buFont typeface="Arial" panose="020B0604020202020204" pitchFamily="34" charset="0"/>
              <a:buChar char="•"/>
            </a:pPr>
            <a:r>
              <a:rPr lang="en-US" sz="1200" dirty="0">
                <a:solidFill>
                  <a:schemeClr val="tx1">
                    <a:lumMod val="75000"/>
                    <a:lumOff val="25000"/>
                  </a:schemeClr>
                </a:solidFill>
              </a:rPr>
              <a:t>Data Cleaning</a:t>
            </a:r>
          </a:p>
          <a:p>
            <a:pPr marL="285750" indent="-285750">
              <a:buFont typeface="Arial" panose="020B0604020202020204" pitchFamily="34" charset="0"/>
              <a:buChar char="•"/>
            </a:pPr>
            <a:r>
              <a:rPr lang="en-US" sz="1200" dirty="0">
                <a:solidFill>
                  <a:schemeClr val="tx1">
                    <a:lumMod val="75000"/>
                    <a:lumOff val="25000"/>
                  </a:schemeClr>
                </a:solidFill>
              </a:rPr>
              <a:t>Data Integration </a:t>
            </a:r>
          </a:p>
          <a:p>
            <a:pPr marL="285750" indent="-285750">
              <a:buFont typeface="Arial" panose="020B0604020202020204" pitchFamily="34" charset="0"/>
              <a:buChar char="•"/>
            </a:pPr>
            <a:r>
              <a:rPr lang="en-US" sz="1200" dirty="0">
                <a:solidFill>
                  <a:schemeClr val="tx1">
                    <a:lumMod val="75000"/>
                    <a:lumOff val="25000"/>
                  </a:schemeClr>
                </a:solidFill>
              </a:rPr>
              <a:t>Statistical Hypothesis Testing</a:t>
            </a:r>
          </a:p>
          <a:p>
            <a:pPr marL="285750" indent="-285750">
              <a:buFont typeface="Arial" panose="020B0604020202020204" pitchFamily="34" charset="0"/>
              <a:buChar char="•"/>
            </a:pPr>
            <a:r>
              <a:rPr lang="en-US" sz="1200" dirty="0">
                <a:solidFill>
                  <a:schemeClr val="tx1">
                    <a:lumMod val="75000"/>
                    <a:lumOff val="25000"/>
                  </a:schemeClr>
                </a:solidFill>
              </a:rPr>
              <a:t>Visual Analysis</a:t>
            </a:r>
          </a:p>
          <a:p>
            <a:pPr marL="285750" indent="-285750">
              <a:buFont typeface="Arial" panose="020B0604020202020204" pitchFamily="34" charset="0"/>
              <a:buChar char="•"/>
            </a:pPr>
            <a:r>
              <a:rPr lang="en-US" sz="1200" dirty="0">
                <a:solidFill>
                  <a:schemeClr val="tx1">
                    <a:lumMod val="75000"/>
                    <a:lumOff val="25000"/>
                  </a:schemeClr>
                </a:solidFill>
              </a:rPr>
              <a:t>Forecasting</a:t>
            </a:r>
          </a:p>
          <a:p>
            <a:pPr marL="285750" indent="-285750">
              <a:buFont typeface="Arial" panose="020B0604020202020204" pitchFamily="34" charset="0"/>
              <a:buChar char="•"/>
            </a:pPr>
            <a:r>
              <a:rPr lang="en-US" sz="1200" dirty="0">
                <a:solidFill>
                  <a:schemeClr val="tx1">
                    <a:lumMod val="75000"/>
                    <a:lumOff val="25000"/>
                  </a:schemeClr>
                </a:solidFill>
              </a:rPr>
              <a:t>Dashboard Design</a:t>
            </a:r>
          </a:p>
          <a:p>
            <a:pPr marL="285750" indent="-285750">
              <a:buFont typeface="Arial" panose="020B0604020202020204" pitchFamily="34" charset="0"/>
              <a:buChar char="•"/>
            </a:pPr>
            <a:r>
              <a:rPr lang="en-US" sz="1200" dirty="0">
                <a:solidFill>
                  <a:schemeClr val="tx1">
                    <a:lumMod val="75000"/>
                    <a:lumOff val="25000"/>
                  </a:schemeClr>
                </a:solidFill>
              </a:rPr>
              <a:t>Utilizing </a:t>
            </a:r>
            <a:r>
              <a:rPr lang="en-US" sz="1200" dirty="0" err="1">
                <a:solidFill>
                  <a:schemeClr val="tx1">
                    <a:lumMod val="75000"/>
                    <a:lumOff val="25000"/>
                  </a:schemeClr>
                </a:solidFill>
              </a:rPr>
              <a:t>Github</a:t>
            </a:r>
            <a:r>
              <a:rPr lang="en-US" sz="1200" dirty="0">
                <a:solidFill>
                  <a:schemeClr val="tx1">
                    <a:lumMod val="75000"/>
                    <a:lumOff val="25000"/>
                  </a:schemeClr>
                </a:solidFill>
              </a:rPr>
              <a:t> for project organization and display</a:t>
            </a:r>
          </a:p>
          <a:p>
            <a:pPr marL="285750" indent="-285750">
              <a:buFont typeface="Arial" panose="020B0604020202020204" pitchFamily="34" charset="0"/>
              <a:buChar char="•"/>
            </a:pPr>
            <a:endParaRPr lang="en-US" sz="1200" dirty="0">
              <a:solidFill>
                <a:schemeClr val="tx1">
                  <a:lumMod val="75000"/>
                  <a:lumOff val="25000"/>
                </a:schemeClr>
              </a:solidFill>
            </a:endParaRPr>
          </a:p>
          <a:p>
            <a:pPr marL="285750" indent="-285750">
              <a:buFont typeface="Arial" panose="020B0604020202020204" pitchFamily="34" charset="0"/>
              <a:buChar char="•"/>
            </a:pPr>
            <a:endParaRPr lang="en-US" sz="1200" dirty="0">
              <a:solidFill>
                <a:schemeClr val="tx1">
                  <a:lumMod val="75000"/>
                  <a:lumOff val="25000"/>
                </a:schemeClr>
              </a:solidFill>
            </a:endParaRPr>
          </a:p>
          <a:p>
            <a:pPr marL="285750" indent="-285750">
              <a:buFont typeface="Arial" panose="020B0604020202020204" pitchFamily="34" charset="0"/>
              <a:buChar char="•"/>
            </a:pPr>
            <a:endParaRPr lang="en-US" sz="1200" dirty="0">
              <a:solidFill>
                <a:schemeClr val="tx1">
                  <a:lumMod val="75000"/>
                  <a:lumOff val="25000"/>
                </a:schemeClr>
              </a:solidFill>
            </a:endParaRPr>
          </a:p>
          <a:p>
            <a:endParaRPr lang="en-US" sz="1200" dirty="0">
              <a:solidFill>
                <a:schemeClr val="tx1">
                  <a:lumMod val="75000"/>
                  <a:lumOff val="25000"/>
                </a:schemeClr>
              </a:solidFill>
            </a:endParaRPr>
          </a:p>
          <a:p>
            <a:pPr marL="285750" indent="-285750">
              <a:buFont typeface="Arial" panose="020B0604020202020204" pitchFamily="34" charset="0"/>
              <a:buChar char="•"/>
            </a:pPr>
            <a:endParaRPr lang="en-US" sz="1200" dirty="0">
              <a:solidFill>
                <a:schemeClr val="tx1">
                  <a:lumMod val="75000"/>
                  <a:lumOff val="25000"/>
                </a:schemeClr>
              </a:solidFill>
            </a:endParaRPr>
          </a:p>
          <a:p>
            <a:endParaRPr lang="en-US" sz="1200" dirty="0">
              <a:solidFill>
                <a:schemeClr val="tx1">
                  <a:lumMod val="75000"/>
                  <a:lumOff val="25000"/>
                </a:schemeClr>
              </a:solidFill>
            </a:endParaRPr>
          </a:p>
        </p:txBody>
      </p:sp>
      <p:sp>
        <p:nvSpPr>
          <p:cNvPr id="14" name="TextBox 13">
            <a:extLst>
              <a:ext uri="{FF2B5EF4-FFF2-40B4-BE49-F238E27FC236}">
                <a16:creationId xmlns:a16="http://schemas.microsoft.com/office/drawing/2014/main" id="{83BDB46B-699D-E6F8-165B-3E67539CDBDB}"/>
              </a:ext>
            </a:extLst>
          </p:cNvPr>
          <p:cNvSpPr txBox="1"/>
          <p:nvPr/>
        </p:nvSpPr>
        <p:spPr>
          <a:xfrm>
            <a:off x="4096997" y="3322601"/>
            <a:ext cx="1225194" cy="646331"/>
          </a:xfrm>
          <a:prstGeom prst="rect">
            <a:avLst/>
          </a:prstGeom>
          <a:noFill/>
        </p:spPr>
        <p:txBody>
          <a:bodyPr wrap="square">
            <a:spAutoFit/>
          </a:bodyPr>
          <a:lstStyle/>
          <a:p>
            <a:r>
              <a:rPr lang="en-US" sz="1200" dirty="0">
                <a:solidFill>
                  <a:schemeClr val="tx1">
                    <a:lumMod val="75000"/>
                    <a:lumOff val="25000"/>
                  </a:schemeClr>
                </a:solidFill>
              </a:rPr>
              <a:t>Tools Used:</a:t>
            </a:r>
          </a:p>
          <a:p>
            <a:endParaRPr lang="en-US" sz="1200" dirty="0">
              <a:solidFill>
                <a:schemeClr val="tx1">
                  <a:lumMod val="75000"/>
                  <a:lumOff val="25000"/>
                </a:schemeClr>
              </a:solidFill>
            </a:endParaRPr>
          </a:p>
          <a:p>
            <a:endParaRPr lang="en-US" sz="1200" dirty="0">
              <a:solidFill>
                <a:schemeClr val="tx1">
                  <a:lumMod val="75000"/>
                  <a:lumOff val="25000"/>
                </a:schemeClr>
              </a:solidFill>
            </a:endParaRPr>
          </a:p>
        </p:txBody>
      </p:sp>
      <p:pic>
        <p:nvPicPr>
          <p:cNvPr id="16" name="Picture 15">
            <a:extLst>
              <a:ext uri="{FF2B5EF4-FFF2-40B4-BE49-F238E27FC236}">
                <a16:creationId xmlns:a16="http://schemas.microsoft.com/office/drawing/2014/main" id="{91386920-5369-E1B3-C88D-B19DA45CEAA4}"/>
              </a:ext>
            </a:extLst>
          </p:cNvPr>
          <p:cNvPicPr>
            <a:picLocks noChangeAspect="1"/>
          </p:cNvPicPr>
          <p:nvPr/>
        </p:nvPicPr>
        <p:blipFill>
          <a:blip r:embed="rId4"/>
          <a:stretch>
            <a:fillRect/>
          </a:stretch>
        </p:blipFill>
        <p:spPr>
          <a:xfrm>
            <a:off x="4195081" y="3783151"/>
            <a:ext cx="726854" cy="4723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8" name="Picture 17">
            <a:extLst>
              <a:ext uri="{FF2B5EF4-FFF2-40B4-BE49-F238E27FC236}">
                <a16:creationId xmlns:a16="http://schemas.microsoft.com/office/drawing/2014/main" id="{638264EC-E90B-A5F7-EF25-9A7AF0EEA3FB}"/>
              </a:ext>
            </a:extLst>
          </p:cNvPr>
          <p:cNvPicPr>
            <a:picLocks noChangeAspect="1"/>
          </p:cNvPicPr>
          <p:nvPr/>
        </p:nvPicPr>
        <p:blipFill>
          <a:blip r:embed="rId5"/>
          <a:stretch>
            <a:fillRect/>
          </a:stretch>
        </p:blipFill>
        <p:spPr>
          <a:xfrm>
            <a:off x="6162657" y="3787564"/>
            <a:ext cx="783309" cy="482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76AC2C13-25FF-CBD6-C464-D2E239190DF6}"/>
              </a:ext>
            </a:extLst>
          </p:cNvPr>
          <p:cNvPicPr>
            <a:picLocks noChangeAspect="1"/>
          </p:cNvPicPr>
          <p:nvPr/>
        </p:nvPicPr>
        <p:blipFill>
          <a:blip r:embed="rId6"/>
          <a:stretch>
            <a:fillRect/>
          </a:stretch>
        </p:blipFill>
        <p:spPr>
          <a:xfrm>
            <a:off x="5154150" y="3783151"/>
            <a:ext cx="783309" cy="491777"/>
          </a:xfrm>
          <a:prstGeom prst="roundRect">
            <a:avLst>
              <a:gd name="adj" fmla="val 8594"/>
            </a:avLst>
          </a:prstGeom>
          <a:solidFill>
            <a:srgbClr val="FFFFFF">
              <a:shade val="85000"/>
            </a:srgbClr>
          </a:solidFill>
          <a:ln>
            <a:noFill/>
          </a:ln>
          <a:effectLst>
            <a:reflection blurRad="6350" stA="52000" endA="300" endPos="35000" dir="5400000" sy="-100000" algn="bl" rotWithShape="0"/>
          </a:effectLst>
        </p:spPr>
      </p:pic>
      <p:pic>
        <p:nvPicPr>
          <p:cNvPr id="11" name="Picture 10">
            <a:extLst>
              <a:ext uri="{FF2B5EF4-FFF2-40B4-BE49-F238E27FC236}">
                <a16:creationId xmlns:a16="http://schemas.microsoft.com/office/drawing/2014/main" id="{074179EA-245C-C3F7-668A-9B423043BE77}"/>
              </a:ext>
            </a:extLst>
          </p:cNvPr>
          <p:cNvPicPr>
            <a:picLocks noChangeAspect="1"/>
          </p:cNvPicPr>
          <p:nvPr/>
        </p:nvPicPr>
        <p:blipFill>
          <a:blip r:embed="rId7"/>
          <a:stretch>
            <a:fillRect/>
          </a:stretch>
        </p:blipFill>
        <p:spPr>
          <a:xfrm>
            <a:off x="6162657" y="4462746"/>
            <a:ext cx="783309" cy="4917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Picture 4" descr="Anaconda (Python distribution) - Wikipedia">
            <a:extLst>
              <a:ext uri="{FF2B5EF4-FFF2-40B4-BE49-F238E27FC236}">
                <a16:creationId xmlns:a16="http://schemas.microsoft.com/office/drawing/2014/main" id="{8AC6209E-2D1C-93CC-062E-4B21DFA0CA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54149" y="4502289"/>
            <a:ext cx="783309" cy="482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12">
            <a:extLst>
              <a:ext uri="{FF2B5EF4-FFF2-40B4-BE49-F238E27FC236}">
                <a16:creationId xmlns:a16="http://schemas.microsoft.com/office/drawing/2014/main" id="{09366C5A-650A-D51A-5D03-62D14FB14EE1}"/>
              </a:ext>
            </a:extLst>
          </p:cNvPr>
          <p:cNvPicPr>
            <a:picLocks noChangeAspect="1"/>
          </p:cNvPicPr>
          <p:nvPr/>
        </p:nvPicPr>
        <p:blipFill>
          <a:blip r:embed="rId9"/>
          <a:stretch>
            <a:fillRect/>
          </a:stretch>
        </p:blipFill>
        <p:spPr>
          <a:xfrm>
            <a:off x="4165222" y="4487265"/>
            <a:ext cx="783309" cy="5061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Picture 16">
            <a:extLst>
              <a:ext uri="{FF2B5EF4-FFF2-40B4-BE49-F238E27FC236}">
                <a16:creationId xmlns:a16="http://schemas.microsoft.com/office/drawing/2014/main" id="{7E28C2B5-3BE5-712F-BBCD-4442F86EED75}"/>
              </a:ext>
            </a:extLst>
          </p:cNvPr>
          <p:cNvPicPr>
            <a:picLocks noChangeAspect="1"/>
          </p:cNvPicPr>
          <p:nvPr/>
        </p:nvPicPr>
        <p:blipFill>
          <a:blip r:embed="rId10"/>
          <a:stretch>
            <a:fillRect/>
          </a:stretch>
        </p:blipFill>
        <p:spPr>
          <a:xfrm>
            <a:off x="4148234" y="5234151"/>
            <a:ext cx="800297" cy="47951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9" name="TextBox 18">
            <a:extLst>
              <a:ext uri="{FF2B5EF4-FFF2-40B4-BE49-F238E27FC236}">
                <a16:creationId xmlns:a16="http://schemas.microsoft.com/office/drawing/2014/main" id="{174FA675-575A-D17F-AC43-76E67EB6B307}"/>
              </a:ext>
            </a:extLst>
          </p:cNvPr>
          <p:cNvSpPr txBox="1"/>
          <p:nvPr/>
        </p:nvSpPr>
        <p:spPr>
          <a:xfrm>
            <a:off x="3123790" y="1626568"/>
            <a:ext cx="3289948" cy="461665"/>
          </a:xfrm>
          <a:prstGeom prst="rect">
            <a:avLst/>
          </a:prstGeom>
          <a:noFill/>
        </p:spPr>
        <p:txBody>
          <a:bodyPr wrap="square" rtlCol="0">
            <a:spAutoFit/>
          </a:bodyPr>
          <a:lstStyle/>
          <a:p>
            <a:r>
              <a:rPr lang="en-US" sz="1200" dirty="0">
                <a:solidFill>
                  <a:schemeClr val="tx1">
                    <a:lumMod val="75000"/>
                    <a:lumOff val="25000"/>
                  </a:schemeClr>
                </a:solidFill>
                <a:hlinkClick r:id="rId11">
                  <a:extLst>
                    <a:ext uri="{A12FA001-AC4F-418D-AE19-62706E023703}">
                      <ahyp:hlinkClr xmlns:ahyp="http://schemas.microsoft.com/office/drawing/2018/hyperlinkcolor" val="tx"/>
                    </a:ext>
                  </a:extLst>
                </a:hlinkClick>
              </a:rPr>
              <a:t>Link to Tableau Visual</a:t>
            </a:r>
          </a:p>
          <a:p>
            <a:r>
              <a:rPr lang="en-US" sz="1200" dirty="0">
                <a:solidFill>
                  <a:srgbClr val="0563C1"/>
                </a:solidFill>
                <a:hlinkClick r:id="rId11">
                  <a:extLst>
                    <a:ext uri="{A12FA001-AC4F-418D-AE19-62706E023703}">
                      <ahyp:hlinkClr xmlns:ahyp="http://schemas.microsoft.com/office/drawing/2018/hyperlinkcolor" val="tx"/>
                    </a:ext>
                  </a:extLst>
                </a:hlinkClick>
              </a:rPr>
              <a:t>NYC Yellow: Business Report | Tableau Public</a:t>
            </a:r>
            <a:endParaRPr lang="en-US" sz="1200" dirty="0"/>
          </a:p>
        </p:txBody>
      </p:sp>
    </p:spTree>
    <p:extLst>
      <p:ext uri="{BB962C8B-B14F-4D97-AF65-F5344CB8AC3E}">
        <p14:creationId xmlns:p14="http://schemas.microsoft.com/office/powerpoint/2010/main" val="4177416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E2E82F-701F-62FC-8A9B-40AE2C48E582}"/>
              </a:ext>
            </a:extLst>
          </p:cNvPr>
          <p:cNvPicPr>
            <a:picLocks noChangeAspect="1"/>
          </p:cNvPicPr>
          <p:nvPr/>
        </p:nvPicPr>
        <p:blipFill>
          <a:blip r:embed="rId2"/>
          <a:stretch>
            <a:fillRect/>
          </a:stretch>
        </p:blipFill>
        <p:spPr>
          <a:xfrm>
            <a:off x="440209" y="155638"/>
            <a:ext cx="3506020" cy="3773092"/>
          </a:xfrm>
          <a:prstGeom prst="roundRect">
            <a:avLst>
              <a:gd name="adj" fmla="val 8594"/>
            </a:avLst>
          </a:prstGeom>
          <a:solidFill>
            <a:srgbClr val="FFFFFF">
              <a:shade val="85000"/>
            </a:srgbClr>
          </a:solidFill>
          <a:ln>
            <a:noFill/>
          </a:ln>
          <a:effectLst/>
        </p:spPr>
      </p:pic>
      <p:pic>
        <p:nvPicPr>
          <p:cNvPr id="10" name="Picture 9">
            <a:extLst>
              <a:ext uri="{FF2B5EF4-FFF2-40B4-BE49-F238E27FC236}">
                <a16:creationId xmlns:a16="http://schemas.microsoft.com/office/drawing/2014/main" id="{C04232B6-4678-D6F8-BECE-F175627DA261}"/>
              </a:ext>
            </a:extLst>
          </p:cNvPr>
          <p:cNvPicPr>
            <a:picLocks noChangeAspect="1"/>
          </p:cNvPicPr>
          <p:nvPr/>
        </p:nvPicPr>
        <p:blipFill>
          <a:blip r:embed="rId3"/>
          <a:stretch>
            <a:fillRect/>
          </a:stretch>
        </p:blipFill>
        <p:spPr>
          <a:xfrm>
            <a:off x="440209" y="4278597"/>
            <a:ext cx="8025575" cy="2423765"/>
          </a:xfrm>
          <a:prstGeom prst="roundRect">
            <a:avLst>
              <a:gd name="adj" fmla="val 8594"/>
            </a:avLst>
          </a:prstGeom>
          <a:solidFill>
            <a:srgbClr val="FFFFFF">
              <a:shade val="85000"/>
            </a:srgbClr>
          </a:solidFill>
          <a:ln>
            <a:noFill/>
          </a:ln>
          <a:effectLst/>
        </p:spPr>
      </p:pic>
      <p:pic>
        <p:nvPicPr>
          <p:cNvPr id="14" name="Picture 13">
            <a:extLst>
              <a:ext uri="{FF2B5EF4-FFF2-40B4-BE49-F238E27FC236}">
                <a16:creationId xmlns:a16="http://schemas.microsoft.com/office/drawing/2014/main" id="{D7703B37-F40C-4A68-9BC6-F5C80CF9AD9D}"/>
              </a:ext>
            </a:extLst>
          </p:cNvPr>
          <p:cNvPicPr>
            <a:picLocks noChangeAspect="1"/>
          </p:cNvPicPr>
          <p:nvPr/>
        </p:nvPicPr>
        <p:blipFill>
          <a:blip r:embed="rId4"/>
          <a:stretch>
            <a:fillRect/>
          </a:stretch>
        </p:blipFill>
        <p:spPr>
          <a:xfrm>
            <a:off x="4228701" y="155639"/>
            <a:ext cx="4237083" cy="3773091"/>
          </a:xfrm>
          <a:prstGeom prst="roundRect">
            <a:avLst>
              <a:gd name="adj" fmla="val 8594"/>
            </a:avLst>
          </a:prstGeom>
          <a:solidFill>
            <a:srgbClr val="FFFFFF">
              <a:shade val="85000"/>
            </a:srgbClr>
          </a:solidFill>
          <a:ln>
            <a:noFill/>
          </a:ln>
          <a:effectLst/>
        </p:spPr>
      </p:pic>
      <p:sp>
        <p:nvSpPr>
          <p:cNvPr id="16" name="TextBox 15">
            <a:extLst>
              <a:ext uri="{FF2B5EF4-FFF2-40B4-BE49-F238E27FC236}">
                <a16:creationId xmlns:a16="http://schemas.microsoft.com/office/drawing/2014/main" id="{8386C966-7D6B-FD4D-E7B9-DDBECF105CDC}"/>
              </a:ext>
            </a:extLst>
          </p:cNvPr>
          <p:cNvSpPr txBox="1"/>
          <p:nvPr/>
        </p:nvSpPr>
        <p:spPr>
          <a:xfrm>
            <a:off x="8618066" y="889843"/>
            <a:ext cx="3307234" cy="5539978"/>
          </a:xfrm>
          <a:prstGeom prst="rect">
            <a:avLst/>
          </a:prstGeom>
          <a:noFill/>
        </p:spPr>
        <p:txBody>
          <a:bodyPr wrap="square">
            <a:spAutoFit/>
          </a:bodyPr>
          <a:lstStyle/>
          <a:p>
            <a:r>
              <a:rPr lang="en-US" sz="1200" dirty="0"/>
              <a:t>I created scatterplots that helped visualize the relationship between trip distance and fare amount. I created a geospatial map from and then added informative layers to analyze  trip distance and fare amount. </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r>
              <a:rPr lang="en-US" sz="1200" dirty="0"/>
              <a:t>This graph helps to show the relationship between borough, zone and time of day. These graphs utilized many different flags that I created with python to help create relationships between the data so its easier to see analyze. </a:t>
            </a:r>
          </a:p>
          <a:p>
            <a:endParaRPr lang="en-US" sz="1800" dirty="0">
              <a:solidFill>
                <a:schemeClr val="tx1"/>
              </a:solidFill>
            </a:endParaRPr>
          </a:p>
        </p:txBody>
      </p:sp>
    </p:spTree>
    <p:extLst>
      <p:ext uri="{BB962C8B-B14F-4D97-AF65-F5344CB8AC3E}">
        <p14:creationId xmlns:p14="http://schemas.microsoft.com/office/powerpoint/2010/main" val="4244382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a:normAutofit/>
          </a:bodyPr>
          <a:lstStyle/>
          <a:p>
            <a:r>
              <a:rPr lang="en-US" dirty="0"/>
              <a:t>Stafford Reece</a:t>
            </a:r>
          </a:p>
          <a:p>
            <a:r>
              <a:rPr lang="en-US" dirty="0"/>
              <a:t>Reecems@vcu.edu</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light pitch_tm56180624_Win32_LW_SL_v3" id="{5A4404DB-4ECC-4373-8C35-B428B8CCB737}" vid="{DB02F28E-0C23-47F0-A348-62748A79E20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F97B18F-50BC-4F30-8373-93489E845F83}">
  <ds:schemaRefs>
    <ds:schemaRef ds:uri="http://schemas.microsoft.com/office/infopath/2007/PartnerControls"/>
    <ds:schemaRef ds:uri="http://purl.org/dc/elements/1.1/"/>
    <ds:schemaRef ds:uri="http://purl.org/dc/terms/"/>
    <ds:schemaRef ds:uri="http://schemas.microsoft.com/office/2006/documentManagement/types"/>
    <ds:schemaRef ds:uri="16c05727-aa75-4e4a-9b5f-8a80a1165891"/>
    <ds:schemaRef ds:uri="http://www.w3.org/XML/1998/namespace"/>
    <ds:schemaRef ds:uri="http://schemas.openxmlformats.org/package/2006/metadata/core-properties"/>
    <ds:schemaRef ds:uri="http://schemas.microsoft.com/office/2006/metadata/properties"/>
    <ds:schemaRef ds:uri="http://purl.org/dc/dcmitype/"/>
    <ds:schemaRef ds:uri="230e9df3-be65-4c73-a93b-d1236ebd677e"/>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42BC90D6-94CF-42F7-AAC4-9CF6824C54D5}">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{1D938ABC-9AEF-428D-9B13-4F79388A6C3F}tf56180624_win32</Template>
  <TotalTime>8302</TotalTime>
  <Words>1913</Words>
  <Application>Microsoft Office PowerPoint</Application>
  <PresentationFormat>Widescreen</PresentationFormat>
  <Paragraphs>241</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Courier New</vt:lpstr>
      <vt:lpstr>Tableau Book</vt:lpstr>
      <vt:lpstr>Tenorite</vt:lpstr>
      <vt:lpstr>Monoline</vt:lpstr>
      <vt:lpstr>Stafford Reece</vt:lpstr>
      <vt:lpstr>Overview of Projects</vt:lpstr>
      <vt:lpstr>Gameco. </vt:lpstr>
      <vt:lpstr>PowerPoint Presentation</vt:lpstr>
      <vt:lpstr>PowerPoint Presentation</vt:lpstr>
      <vt:lpstr>PowerPoint Presentation</vt:lpstr>
      <vt:lpstr>Hospital Staffing Agency </vt:lpstr>
      <vt:lpstr>PowerPoint Presentation</vt:lpstr>
      <vt:lpstr>PowerPoint Presentation</vt:lpstr>
      <vt:lpstr>PowerPoint Presentation</vt:lpstr>
      <vt:lpstr>RockBuster Stealth LLC</vt:lpstr>
      <vt:lpstr>PowerPoint Presentation</vt:lpstr>
      <vt:lpstr>PowerPoint Presentation</vt:lpstr>
      <vt:lpstr>PowerPoint Presentation</vt:lpstr>
      <vt:lpstr>InstaCart Basket Analysis</vt:lpstr>
      <vt:lpstr>PowerPoint Presentation</vt:lpstr>
      <vt:lpstr>PowerPoint Presentation</vt:lpstr>
      <vt:lpstr>PowerPoint Presentation</vt:lpstr>
      <vt:lpstr>NYC Yellow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Stafford Reece</dc:title>
  <dc:creator>mark reece</dc:creator>
  <cp:lastModifiedBy>mark reece</cp:lastModifiedBy>
  <cp:revision>15</cp:revision>
  <dcterms:created xsi:type="dcterms:W3CDTF">2023-05-16T11:06:14Z</dcterms:created>
  <dcterms:modified xsi:type="dcterms:W3CDTF">2023-07-11T00:02:20Z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